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753" r:id="rId3"/>
    <p:sldId id="768" r:id="rId4"/>
    <p:sldId id="769" r:id="rId5"/>
    <p:sldId id="987" r:id="rId6"/>
    <p:sldId id="988" r:id="rId7"/>
    <p:sldId id="256" r:id="rId8"/>
    <p:sldId id="990" r:id="rId9"/>
    <p:sldId id="989" r:id="rId10"/>
    <p:sldId id="992" r:id="rId11"/>
    <p:sldId id="99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48D-A246-4237-96D1-2270464244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107D-B198-48E7-8342-7AE7CB4153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48D-A246-4237-96D1-2270464244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107D-B198-48E7-8342-7AE7CB4153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48D-A246-4237-96D1-2270464244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107D-B198-48E7-8342-7AE7CB4153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48D-A246-4237-96D1-2270464244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107D-B198-48E7-8342-7AE7CB4153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48D-A246-4237-96D1-2270464244D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107D-B198-48E7-8342-7AE7CB4153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48D-A246-4237-96D1-2270464244D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107D-B198-48E7-8342-7AE7CB4153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48D-A246-4237-96D1-2270464244D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107D-B198-48E7-8342-7AE7CB4153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48D-A246-4237-96D1-2270464244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107D-B198-48E7-8342-7AE7CB4153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48D-A246-4237-96D1-2270464244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107D-B198-48E7-8342-7AE7CB4153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48D-A246-4237-96D1-2270464244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107D-B198-48E7-8342-7AE7CB4153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48D-A246-4237-96D1-2270464244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107D-B198-48E7-8342-7AE7CB4153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9548D-A246-4237-96D1-2270464244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9F107D-B198-48E7-8342-7AE7CB41535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609600"/>
            <a:ext cx="7514035" cy="800100"/>
          </a:xfrm>
        </p:spPr>
        <p:txBody>
          <a:bodyPr/>
          <a:lstStyle/>
          <a:p>
            <a:pPr eaLnBrk="1" hangingPunct="1"/>
            <a:r>
              <a:rPr lang="en-US" altLang="en-US" dirty="0"/>
              <a:t>Logic</a:t>
            </a:r>
            <a:endParaRPr lang="en-US" altLang="en-US" dirty="0"/>
          </a:p>
        </p:txBody>
      </p:sp>
      <p:sp>
        <p:nvSpPr>
          <p:cNvPr id="235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1" y="1600200"/>
            <a:ext cx="7848599" cy="4038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000" b="1" i="1" u="sng" dirty="0"/>
              <a:t>Entailment</a:t>
            </a:r>
            <a:r>
              <a:rPr lang="en-US" altLang="en-US" sz="2000" dirty="0"/>
              <a:t> means that one thing follows logically from another. 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dirty="0"/>
              <a:t>If </a:t>
            </a:r>
            <a:r>
              <a:rPr lang="en-US" altLang="en-US" sz="2000" dirty="0">
                <a:latin typeface="Symbol" panose="05050102010706020507" pitchFamily="18" charset="2"/>
              </a:rPr>
              <a:t>a</a:t>
            </a:r>
            <a:r>
              <a:rPr lang="en-US" altLang="en-US" sz="2000" dirty="0"/>
              <a:t> and </a:t>
            </a:r>
            <a:r>
              <a:rPr lang="en-US" altLang="en-US" sz="2000" dirty="0">
                <a:latin typeface="Symbol" panose="05050102010706020507" pitchFamily="18" charset="2"/>
              </a:rPr>
              <a:t>b </a:t>
            </a:r>
            <a:r>
              <a:rPr lang="en-US" altLang="en-US" sz="2000" dirty="0"/>
              <a:t>  are two sentences and </a:t>
            </a:r>
            <a:r>
              <a:rPr lang="en-US" altLang="en-US" sz="2000" dirty="0">
                <a:latin typeface="Symbol" panose="05050102010706020507" pitchFamily="18" charset="2"/>
              </a:rPr>
              <a:t>a </a:t>
            </a:r>
            <a:r>
              <a:rPr lang="en-US" altLang="en-US" sz="2000" dirty="0"/>
              <a:t> entails  </a:t>
            </a:r>
            <a:r>
              <a:rPr lang="en-US" altLang="en-US" sz="2000" dirty="0">
                <a:latin typeface="Symbol" panose="05050102010706020507" pitchFamily="18" charset="2"/>
              </a:rPr>
              <a:t>b </a:t>
            </a:r>
            <a:r>
              <a:rPr lang="en-US" altLang="en-US" sz="2000" dirty="0"/>
              <a:t>i.e. </a:t>
            </a:r>
            <a:r>
              <a:rPr lang="en-US" altLang="en-US" sz="2000" dirty="0">
                <a:latin typeface="Symbol" panose="05050102010706020507" pitchFamily="18" charset="2"/>
              </a:rPr>
              <a:t>b</a:t>
            </a:r>
            <a:r>
              <a:rPr lang="en-US" altLang="en-US" sz="2000" dirty="0"/>
              <a:t> follows </a:t>
            </a:r>
            <a:r>
              <a:rPr lang="en-US" altLang="en-US" sz="2000" dirty="0">
                <a:latin typeface="Symbol" panose="05050102010706020507" pitchFamily="18" charset="2"/>
              </a:rPr>
              <a:t>a (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i.e. </a:t>
            </a:r>
            <a:r>
              <a:rPr lang="en-US" altLang="en-US" sz="2000" dirty="0">
                <a:latin typeface="Symbol" panose="05050102010706020507" pitchFamily="18" charset="2"/>
              </a:rPr>
              <a:t>b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follows from </a:t>
            </a:r>
            <a:r>
              <a:rPr lang="en-US" altLang="en-US" sz="2000" dirty="0">
                <a:latin typeface="Symbol" panose="05050102010706020507" pitchFamily="18" charset="2"/>
              </a:rPr>
              <a:t>a),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then it is symbolized as follows: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2000" dirty="0">
                <a:latin typeface="Symbol" panose="05050102010706020507" pitchFamily="18" charset="2"/>
              </a:rPr>
              <a:t>  </a:t>
            </a:r>
            <a:endParaRPr lang="en-US" altLang="en-US" sz="2000" dirty="0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 dirty="0">
                <a:latin typeface="Symbol" panose="05050102010706020507" pitchFamily="18" charset="2"/>
              </a:rPr>
              <a:t>a</a:t>
            </a:r>
            <a:r>
              <a:rPr lang="en-US" altLang="en-US" sz="1800" dirty="0"/>
              <a:t> |= </a:t>
            </a:r>
            <a:r>
              <a:rPr lang="en-US" altLang="en-US" sz="1800" dirty="0">
                <a:latin typeface="Symbol" panose="05050102010706020507" pitchFamily="18" charset="2"/>
              </a:rPr>
              <a:t>b</a:t>
            </a:r>
            <a:endParaRPr lang="en-US" altLang="en-US" sz="1800" dirty="0">
              <a:latin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000" dirty="0">
              <a:latin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 </a:t>
            </a:r>
            <a:r>
              <a:rPr lang="en-US" altLang="en-US" sz="2000" dirty="0">
                <a:latin typeface="Symbol" panose="05050102010706020507" pitchFamily="18" charset="2"/>
              </a:rPr>
              <a:t>a</a:t>
            </a:r>
            <a:r>
              <a:rPr lang="en-US" altLang="en-US" sz="2000" dirty="0"/>
              <a:t> |= </a:t>
            </a:r>
            <a:r>
              <a:rPr lang="en-US" altLang="en-US" sz="2000" dirty="0">
                <a:latin typeface="Symbol" panose="05050102010706020507" pitchFamily="18" charset="2"/>
              </a:rPr>
              <a:t>b</a:t>
            </a:r>
            <a:r>
              <a:rPr lang="en-US" altLang="en-US" sz="2000" dirty="0"/>
              <a:t> </a:t>
            </a:r>
            <a:r>
              <a:rPr lang="en-US" altLang="en-US" sz="2000" dirty="0" err="1"/>
              <a:t>iff</a:t>
            </a:r>
            <a:r>
              <a:rPr lang="en-US" altLang="en-US" sz="2000" dirty="0"/>
              <a:t> in every model in which </a:t>
            </a:r>
            <a:r>
              <a:rPr lang="en-US" altLang="en-US" sz="2000" dirty="0">
                <a:latin typeface="Symbol" panose="05050102010706020507" pitchFamily="18" charset="2"/>
              </a:rPr>
              <a:t>a</a:t>
            </a:r>
            <a:r>
              <a:rPr lang="en-US" altLang="en-US" sz="2000" dirty="0"/>
              <a:t> is true, </a:t>
            </a:r>
            <a:r>
              <a:rPr lang="en-US" altLang="en-US" sz="2000" dirty="0">
                <a:latin typeface="Symbol" panose="05050102010706020507" pitchFamily="18" charset="2"/>
              </a:rPr>
              <a:t>b</a:t>
            </a:r>
            <a:r>
              <a:rPr lang="en-US" altLang="en-US" sz="2000" dirty="0"/>
              <a:t> is also true.</a:t>
            </a: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If </a:t>
            </a:r>
            <a:r>
              <a:rPr lang="en-US" altLang="en-US" sz="2000" dirty="0">
                <a:latin typeface="Symbol" panose="05050102010706020507" pitchFamily="18" charset="2"/>
              </a:rPr>
              <a:t>a</a:t>
            </a:r>
            <a:r>
              <a:rPr lang="en-US" altLang="en-US" sz="2000" dirty="0"/>
              <a:t> is true, then </a:t>
            </a:r>
            <a:r>
              <a:rPr lang="en-US" altLang="en-US" sz="2000" dirty="0">
                <a:latin typeface="Symbol" panose="05050102010706020507" pitchFamily="18" charset="2"/>
              </a:rPr>
              <a:t>b</a:t>
            </a:r>
            <a:r>
              <a:rPr lang="en-US" altLang="en-US" sz="2000" dirty="0"/>
              <a:t> must be true. But if </a:t>
            </a:r>
            <a:r>
              <a:rPr lang="en-US" altLang="en-US" sz="2000" dirty="0">
                <a:latin typeface="Symbol" panose="05050102010706020507" pitchFamily="18" charset="2"/>
              </a:rPr>
              <a:t>a</a:t>
            </a:r>
            <a:r>
              <a:rPr lang="en-US" altLang="en-US" sz="2000" dirty="0"/>
              <a:t> is true, but </a:t>
            </a:r>
            <a:r>
              <a:rPr lang="en-US" altLang="en-US" sz="2000" dirty="0">
                <a:latin typeface="Symbol" panose="05050102010706020507" pitchFamily="18" charset="2"/>
              </a:rPr>
              <a:t>b</a:t>
            </a:r>
            <a:r>
              <a:rPr lang="en-US" altLang="en-US" sz="2000" dirty="0"/>
              <a:t> is false, then entailment relation fails.</a:t>
            </a: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The truth of </a:t>
            </a:r>
            <a:r>
              <a:rPr lang="en-US" altLang="en-US" sz="2000" dirty="0">
                <a:latin typeface="Symbol" panose="05050102010706020507" pitchFamily="18" charset="2"/>
              </a:rPr>
              <a:t>b</a:t>
            </a:r>
            <a:r>
              <a:rPr lang="en-US" altLang="en-US" sz="2000" dirty="0"/>
              <a:t> is “contained” in the truth of </a:t>
            </a:r>
            <a:r>
              <a:rPr lang="en-US" altLang="en-US" sz="2000" dirty="0">
                <a:latin typeface="Symbol" panose="05050102010706020507" pitchFamily="18" charset="2"/>
              </a:rPr>
              <a:t>a.</a:t>
            </a:r>
            <a:endParaRPr lang="en-US" altLang="en-US" sz="2000" dirty="0">
              <a:latin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800896"/>
            <a:ext cx="7514035" cy="853678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700" dirty="0">
                <a:latin typeface="Times-Roman"/>
              </a:rPr>
              <a:t>PROPOSITIONAL THEOREM PROVING</a:t>
            </a:r>
            <a:br>
              <a:rPr lang="en-US" sz="1350" dirty="0">
                <a:latin typeface="Times-Roman"/>
              </a:rPr>
            </a:br>
            <a:r>
              <a:rPr lang="en-US" sz="2100" dirty="0">
                <a:latin typeface="Times-Roman"/>
              </a:rPr>
              <a:t>(</a:t>
            </a:r>
            <a:r>
              <a:rPr lang="en-US" altLang="en-US" sz="2100" dirty="0"/>
              <a:t>Logical Equivalence, Validity, Satisfiability)</a:t>
            </a:r>
            <a:endParaRPr lang="en-US" altLang="en-US" sz="2100" dirty="0"/>
          </a:p>
        </p:txBody>
      </p:sp>
      <p:pic>
        <p:nvPicPr>
          <p:cNvPr id="38917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752" y="1905000"/>
            <a:ext cx="6823048" cy="4084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504826"/>
            <a:ext cx="7514035" cy="9715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600" dirty="0">
                <a:latin typeface="Times-Roman"/>
              </a:rPr>
              <a:t>PROPOSITIONAL THEOREM PROVING</a:t>
            </a:r>
            <a:br>
              <a:rPr lang="en-US" sz="2100" dirty="0">
                <a:latin typeface="Times-Roman"/>
              </a:rPr>
            </a:br>
            <a:r>
              <a:rPr lang="en-US" sz="3000" dirty="0">
                <a:latin typeface="Times-Roman"/>
              </a:rPr>
              <a:t>(</a:t>
            </a:r>
            <a:r>
              <a:rPr lang="en-US" altLang="en-US" sz="3000" dirty="0"/>
              <a:t>Logical Equivalence, Validity, Satisfiability) …</a:t>
            </a:r>
            <a:endParaRPr lang="en-US" altLang="en-US" dirty="0"/>
          </a:p>
        </p:txBody>
      </p:sp>
      <p:sp>
        <p:nvSpPr>
          <p:cNvPr id="39941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914400" y="2133600"/>
            <a:ext cx="7514035" cy="3295649"/>
          </a:xfrm>
        </p:spPr>
        <p:txBody>
          <a:bodyPr>
            <a:normAutofit fontScale="700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A sentence is valid if it is </a:t>
            </a:r>
            <a:r>
              <a:rPr lang="en-US" altLang="en-US" b="1" dirty="0"/>
              <a:t>true in all models</a:t>
            </a:r>
            <a:endParaRPr lang="en-US" altLang="en-US" dirty="0"/>
          </a:p>
          <a:p>
            <a:pPr marL="342900" lvl="1" indent="0">
              <a:lnSpc>
                <a:spcPct val="90000"/>
              </a:lnSpc>
              <a:buNone/>
            </a:pPr>
            <a:r>
              <a:rPr lang="en-US" altLang="en-US" dirty="0"/>
              <a:t>e.g. True, A </a:t>
            </a:r>
            <a:r>
              <a:rPr lang="en-US" altLang="en-US" dirty="0">
                <a:sym typeface="Symbol" panose="05050102010706020507" pitchFamily="18" charset="2"/>
              </a:rPr>
              <a:t> </a:t>
            </a:r>
            <a:r>
              <a:rPr lang="en-US" altLang="en-US" dirty="0">
                <a:cs typeface="Tahoma" panose="020B0604030504040204" pitchFamily="34" charset="0"/>
                <a:sym typeface="Symbol" panose="05050102010706020507" pitchFamily="18" charset="2"/>
              </a:rPr>
              <a:t>¬</a:t>
            </a:r>
            <a:r>
              <a:rPr lang="en-US" altLang="en-US" dirty="0"/>
              <a:t>A, A </a:t>
            </a:r>
            <a:r>
              <a:rPr lang="en-US" altLang="en-US" dirty="0">
                <a:sym typeface="Symbol" panose="05050102010706020507" pitchFamily="18" charset="2"/>
              </a:rPr>
              <a:t> </a:t>
            </a:r>
            <a:r>
              <a:rPr lang="en-US" altLang="en-US" dirty="0"/>
              <a:t>A, (A </a:t>
            </a:r>
            <a:r>
              <a:rPr lang="en-US" altLang="en-US" dirty="0">
                <a:sym typeface="Symbol" panose="05050102010706020507" pitchFamily="18" charset="2"/>
              </a:rPr>
              <a:t></a:t>
            </a:r>
            <a:r>
              <a:rPr lang="en-US" altLang="en-US" dirty="0"/>
              <a:t> (A </a:t>
            </a:r>
            <a:r>
              <a:rPr lang="en-US" altLang="en-US" dirty="0">
                <a:sym typeface="Symbol" panose="05050102010706020507" pitchFamily="18" charset="2"/>
              </a:rPr>
              <a:t></a:t>
            </a:r>
            <a:r>
              <a:rPr lang="en-US" altLang="en-US" dirty="0"/>
              <a:t> B) </a:t>
            </a:r>
            <a:r>
              <a:rPr lang="en-US" altLang="en-US" dirty="0">
                <a:sym typeface="Symbol" panose="05050102010706020507" pitchFamily="18" charset="2"/>
              </a:rPr>
              <a:t></a:t>
            </a:r>
            <a:r>
              <a:rPr lang="en-US" altLang="en-US" dirty="0"/>
              <a:t> B</a:t>
            </a:r>
            <a:endParaRPr lang="en-US" altLang="en-US" dirty="0"/>
          </a:p>
          <a:p>
            <a:pPr marL="342900" lvl="1" indent="0">
              <a:lnSpc>
                <a:spcPct val="90000"/>
              </a:lnSpc>
              <a:buNone/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Validity is connected to inference via the Deduction Theorem</a:t>
            </a:r>
            <a:endParaRPr lang="en-US" altLang="en-US" dirty="0"/>
          </a:p>
          <a:p>
            <a:pPr marL="342900" lvl="1" indent="0">
              <a:lnSpc>
                <a:spcPct val="90000"/>
              </a:lnSpc>
              <a:buNone/>
            </a:pPr>
            <a:r>
              <a:rPr lang="en-US" altLang="en-US" dirty="0"/>
              <a:t>KB |= </a:t>
            </a:r>
            <a:r>
              <a:rPr lang="en-US" altLang="en-US" dirty="0">
                <a:latin typeface="Symbol" panose="05050102010706020507" pitchFamily="18" charset="2"/>
              </a:rPr>
              <a:t>a</a:t>
            </a:r>
            <a:r>
              <a:rPr lang="en-US" altLang="en-US" dirty="0"/>
              <a:t> </a:t>
            </a:r>
            <a:r>
              <a:rPr lang="en-US" altLang="en-US" dirty="0" err="1"/>
              <a:t>iff</a:t>
            </a:r>
            <a:r>
              <a:rPr lang="en-US" altLang="en-US" dirty="0"/>
              <a:t> (KB </a:t>
            </a:r>
            <a:r>
              <a:rPr lang="en-US" altLang="en-US" dirty="0">
                <a:sym typeface="Symbol" panose="05050102010706020507" pitchFamily="18" charset="2"/>
              </a:rPr>
              <a:t></a:t>
            </a:r>
            <a:r>
              <a:rPr lang="en-US" altLang="en-US" dirty="0"/>
              <a:t> </a:t>
            </a:r>
            <a:r>
              <a:rPr lang="en-US" altLang="en-US" dirty="0">
                <a:latin typeface="Symbol" panose="05050102010706020507" pitchFamily="18" charset="2"/>
              </a:rPr>
              <a:t>a</a:t>
            </a:r>
            <a:r>
              <a:rPr lang="en-US" altLang="en-US" dirty="0"/>
              <a:t>) is valid</a:t>
            </a:r>
            <a:endParaRPr lang="en-US" altLang="en-US" dirty="0"/>
          </a:p>
          <a:p>
            <a:pPr marL="342900" lvl="1" indent="0">
              <a:lnSpc>
                <a:spcPct val="90000"/>
              </a:lnSpc>
              <a:buNone/>
            </a:pPr>
            <a:endParaRPr lang="en-US" altLang="en-US" dirty="0"/>
          </a:p>
          <a:p>
            <a:pPr algn="just"/>
            <a:r>
              <a:rPr lang="en-US" b="0" i="0" u="none" strike="noStrike" baseline="0" dirty="0"/>
              <a:t>Hence, we can decide if α |= β by checking that (α ⇒ β) is true in every model—which is essentially what the inference algorithm does or by proving that (α ⇒ β) is equivalent to True. Conversely, the deduction theorem states that every valid implication sentence describes a legitimate inference.</a:t>
            </a:r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762000"/>
            <a:ext cx="7514035" cy="1143000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latin typeface="Times-Roman"/>
              </a:rPr>
              <a:t>PROPOSITIONAL THEOREM PROVING</a:t>
            </a:r>
            <a:br>
              <a:rPr lang="en-US" sz="2100" dirty="0">
                <a:latin typeface="Times-Roman"/>
              </a:rPr>
            </a:br>
            <a:r>
              <a:rPr lang="en-US" sz="3000" dirty="0">
                <a:latin typeface="Times-Roman"/>
              </a:rPr>
              <a:t>(</a:t>
            </a:r>
            <a:r>
              <a:rPr lang="en-US" altLang="en-US" sz="3000" dirty="0"/>
              <a:t>Logical Equivalence, Validity, Satisfiability) 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133601"/>
            <a:ext cx="7799785" cy="4114800"/>
          </a:xfrm>
        </p:spPr>
        <p:txBody>
          <a:bodyPr>
            <a:normAutofit fontScale="6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A sentence is satisfiable if it is True in,  or satisfied by, some model.</a:t>
            </a:r>
            <a:endParaRPr lang="en-US" altLang="en-US" dirty="0"/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algn="l"/>
            <a:r>
              <a:rPr lang="en-US" altLang="en-US" dirty="0"/>
              <a:t>For example, t</a:t>
            </a:r>
            <a:r>
              <a:rPr lang="en-US" b="0" i="0" u="none" strike="noStrike" baseline="0" dirty="0"/>
              <a:t>he knowledge base KB of Wumpus World  given earlier, (R1 ∧ R2 ∧ R3 ∧ R4 ∧ R5), is satisfiable because there are three models in which it is true.</a:t>
            </a:r>
            <a:endParaRPr lang="en-US" b="0" i="0" u="none" strike="noStrike" baseline="0" dirty="0"/>
          </a:p>
          <a:p>
            <a:pPr algn="l"/>
            <a:endParaRPr lang="en-US" b="0" i="0" u="none" strike="noStrike" baseline="0" dirty="0"/>
          </a:p>
          <a:p>
            <a:pPr algn="just"/>
            <a:r>
              <a:rPr lang="en-US" b="0" i="0" u="none" strike="noStrike" baseline="0" dirty="0"/>
              <a:t>Many problems in computer science are really satisfiability problems. For example, all the constraint satisfaction problems ask whether the constraints are satisfiable by some assignment.</a:t>
            </a:r>
            <a:endParaRPr lang="en-US" b="0" i="0" u="none" strike="noStrike" baseline="0" dirty="0"/>
          </a:p>
          <a:p>
            <a:pPr algn="just"/>
            <a:endParaRPr lang="en-US" b="0" i="0" u="none" strike="noStrike" baseline="0" dirty="0"/>
          </a:p>
          <a:p>
            <a:pPr algn="just"/>
            <a:r>
              <a:rPr lang="en-US" b="0" i="0" u="none" strike="noStrike" baseline="0" dirty="0"/>
              <a:t>Validity and satisfiability are of course connected: α is valid </a:t>
            </a:r>
            <a:r>
              <a:rPr lang="en-US" b="0" i="0" u="none" strike="noStrike" baseline="0" dirty="0" err="1"/>
              <a:t>iff</a:t>
            </a:r>
            <a:r>
              <a:rPr lang="en-US" b="0" i="0" u="none" strike="noStrike" baseline="0" dirty="0"/>
              <a:t> ￢α is unsatisfiable; </a:t>
            </a:r>
            <a:r>
              <a:rPr lang="en-US" b="0" i="0" u="none" strike="noStrike" baseline="0" dirty="0" err="1"/>
              <a:t>contrapositively</a:t>
            </a:r>
            <a:r>
              <a:rPr lang="en-US" b="0" i="0" u="none" strike="noStrike" baseline="0" dirty="0"/>
              <a:t>, α is satisfiable </a:t>
            </a:r>
            <a:r>
              <a:rPr lang="en-US" b="0" i="0" u="none" strike="noStrike" baseline="0" dirty="0" err="1"/>
              <a:t>iff</a:t>
            </a:r>
            <a:r>
              <a:rPr lang="en-US" b="0" i="0" u="none" strike="noStrike" baseline="0" dirty="0"/>
              <a:t> ￢α is not valid.</a:t>
            </a:r>
            <a:endParaRPr lang="en-US" b="0" i="0" u="none" strike="noStrike" baseline="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514035" cy="1085850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latin typeface="Times-Roman"/>
              </a:rPr>
              <a:t>PROPOSITIONAL THEOREM PROVING</a:t>
            </a:r>
            <a:br>
              <a:rPr lang="en-US" sz="2100" dirty="0">
                <a:latin typeface="Times-Roman"/>
              </a:rPr>
            </a:br>
            <a:r>
              <a:rPr lang="en-US" sz="3000" dirty="0">
                <a:latin typeface="Times-Roman"/>
              </a:rPr>
              <a:t>(</a:t>
            </a:r>
            <a:r>
              <a:rPr lang="en-US" altLang="en-US" sz="3000" dirty="0"/>
              <a:t>Logical Equivalence, Validity, Satisfiability) 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982" y="1905000"/>
            <a:ext cx="7514035" cy="4495800"/>
          </a:xfrm>
        </p:spPr>
        <p:txBody>
          <a:bodyPr>
            <a:noAutofit/>
          </a:bodyPr>
          <a:lstStyle/>
          <a:p>
            <a:pPr algn="just"/>
            <a:r>
              <a:rPr lang="en-US" sz="2000" b="0" i="0" u="none" strike="noStrike" baseline="0" dirty="0"/>
              <a:t>We also have the following useful result:</a:t>
            </a:r>
            <a:endParaRPr lang="en-US" sz="2000" b="0" i="0" u="none" strike="noStrike" baseline="0" dirty="0"/>
          </a:p>
          <a:p>
            <a:pPr marL="0" indent="0" algn="just">
              <a:buNone/>
            </a:pPr>
            <a:r>
              <a:rPr lang="en-US" sz="2000" b="0" i="0" u="none" strike="noStrike" baseline="0" dirty="0"/>
              <a:t>                    α |= β </a:t>
            </a:r>
            <a:r>
              <a:rPr lang="en-US" sz="2000" b="0" i="1" u="none" strike="noStrike" baseline="0" dirty="0"/>
              <a:t>if and only if the sentence </a:t>
            </a:r>
            <a:r>
              <a:rPr lang="en-US" sz="2000" b="0" i="0" u="none" strike="noStrike" baseline="0" dirty="0"/>
              <a:t>(α ∧ ￢β) </a:t>
            </a:r>
            <a:r>
              <a:rPr lang="en-US" sz="2000" b="0" i="1" u="none" strike="noStrike" baseline="0" dirty="0"/>
              <a:t>is unsatisfiable.</a:t>
            </a:r>
            <a:endParaRPr lang="en-US" sz="2000" b="0" i="1" u="none" strike="noStrike" baseline="0" dirty="0"/>
          </a:p>
          <a:p>
            <a:pPr marL="0" indent="0" algn="just">
              <a:buNone/>
            </a:pPr>
            <a:endParaRPr lang="en-US" sz="2000" b="0" i="1" u="none" strike="noStrike" baseline="0" dirty="0"/>
          </a:p>
          <a:p>
            <a:pPr algn="just"/>
            <a:r>
              <a:rPr lang="en-US" sz="2000" b="0" i="0" u="none" strike="noStrike" baseline="0" dirty="0"/>
              <a:t>Proving β from α by checking the </a:t>
            </a:r>
            <a:r>
              <a:rPr lang="en-US" sz="2000" b="0" i="0" u="none" strike="noStrike" baseline="0" dirty="0" err="1"/>
              <a:t>unsatisfiability</a:t>
            </a:r>
            <a:r>
              <a:rPr lang="en-US" sz="2000" b="0" i="0" u="none" strike="noStrike" baseline="0" dirty="0"/>
              <a:t> of (α ∧ ￢β) corresponds exactly to the standard mathematical proof technique of </a:t>
            </a:r>
            <a:r>
              <a:rPr lang="en-US" sz="2000" b="0" i="1" u="none" strike="noStrike" baseline="0" dirty="0"/>
              <a:t>reductio ad absurdum </a:t>
            </a:r>
            <a:r>
              <a:rPr lang="en-US" sz="2000" b="0" i="0" u="none" strike="noStrike" baseline="0" dirty="0"/>
              <a:t>(literally, “reduction to an absurd thing”). It is also called proof by </a:t>
            </a:r>
            <a:r>
              <a:rPr lang="en-US" sz="2000" b="1" i="0" u="none" strike="noStrike" baseline="0" dirty="0"/>
              <a:t>refutation </a:t>
            </a:r>
            <a:r>
              <a:rPr lang="en-US" sz="2000" b="0" i="0" u="none" strike="noStrike" baseline="0" dirty="0"/>
              <a:t>or proof by </a:t>
            </a:r>
            <a:r>
              <a:rPr lang="en-US" sz="2000" b="1" i="0" u="none" strike="noStrike" baseline="0" dirty="0"/>
              <a:t>contradiction</a:t>
            </a:r>
            <a:r>
              <a:rPr lang="en-US" sz="2000" b="0" i="0" u="none" strike="noStrike" baseline="0" dirty="0"/>
              <a:t>. </a:t>
            </a:r>
            <a:endParaRPr lang="en-US" sz="2000" b="0" i="0" u="none" strike="noStrike" baseline="0" dirty="0"/>
          </a:p>
          <a:p>
            <a:pPr algn="just"/>
            <a:endParaRPr lang="en-US" sz="2000" b="0" i="0" u="none" strike="noStrike" baseline="0" dirty="0"/>
          </a:p>
          <a:p>
            <a:pPr algn="just"/>
            <a:r>
              <a:rPr lang="en-US" sz="2000" b="0" i="0" u="none" strike="noStrike" baseline="0" dirty="0"/>
              <a:t>One assumes a sentence β to be false and shows that this leads to a contradiction with known axioms α. This contradiction is exactly what is meant by saying that the sentence (α ∧ ￢β) is unsatisfiable.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876" y="609600"/>
            <a:ext cx="8004247" cy="50180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11" y="0"/>
            <a:ext cx="900037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21" r="47059"/>
          <a:stretch>
            <a:fillRect/>
          </a:stretch>
        </p:blipFill>
        <p:spPr>
          <a:xfrm>
            <a:off x="0" y="76200"/>
            <a:ext cx="4800600" cy="67055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21"/>
          <a:stretch>
            <a:fillRect/>
          </a:stretch>
        </p:blipFill>
        <p:spPr>
          <a:xfrm>
            <a:off x="0" y="76200"/>
            <a:ext cx="9067800" cy="67055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13616"/>
            <a:ext cx="9144000" cy="36307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2346</Words>
  <Application>WPS Presentation</Application>
  <PresentationFormat>On-screen Show (4:3)</PresentationFormat>
  <Paragraphs>45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SimSun</vt:lpstr>
      <vt:lpstr>Wingdings</vt:lpstr>
      <vt:lpstr>Symbol</vt:lpstr>
      <vt:lpstr>Times New Roman</vt:lpstr>
      <vt:lpstr>Times-Roman</vt:lpstr>
      <vt:lpstr>Tahoma</vt:lpstr>
      <vt:lpstr>Calibri</vt:lpstr>
      <vt:lpstr>Microsoft YaHei</vt:lpstr>
      <vt:lpstr>Arial Unicode MS</vt:lpstr>
      <vt:lpstr>Office Theme</vt:lpstr>
      <vt:lpstr>Logic</vt:lpstr>
      <vt:lpstr>PROPOSITIONAL THEOREM PROVING (Logical Equivalence, Validity, Satisfiability)</vt:lpstr>
      <vt:lpstr>PROPOSITIONAL THEOREM PROVING (Logical Equivalence, Validity, Satisfiability) …</vt:lpstr>
      <vt:lpstr>PROPOSITIONAL THEOREM PROVING (Logical Equivalence, Validity, Satisfiability) …</vt:lpstr>
      <vt:lpstr>PROPOSITIONAL THEOREM PROVING (Logical Equivalence, Validity, Satisfiability) …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KIIT01</cp:lastModifiedBy>
  <cp:revision>3</cp:revision>
  <dcterms:created xsi:type="dcterms:W3CDTF">2022-03-29T17:38:00Z</dcterms:created>
  <dcterms:modified xsi:type="dcterms:W3CDTF">2024-03-30T09:47:38Z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1C648F5586E1432DB904F9972D93A893_12</vt:lpwstr>
  </property>
  <property fmtid="{D5CDD505-2E9C-101B-9397-08002B2CF9AE}" pid="3" name="KSOProductBuildVer">
    <vt:lpwstr>1033-12.2.0.16703</vt:lpwstr>
  </property>
</Properties>
</file>