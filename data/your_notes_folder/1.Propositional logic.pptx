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008" y="-90"/>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59548D-A246-4237-96D1-2270464244D9}" type="datetimeFigureOut">
              <a:rPr lang="en-US" smtClean="0"/>
              <a:pPr/>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1233123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59548D-A246-4237-96D1-2270464244D9}" type="datetimeFigureOut">
              <a:rPr lang="en-US" smtClean="0"/>
              <a:pPr/>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3900384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59548D-A246-4237-96D1-2270464244D9}" type="datetimeFigureOut">
              <a:rPr lang="en-US" smtClean="0"/>
              <a:pPr/>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3280615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59548D-A246-4237-96D1-2270464244D9}" type="datetimeFigureOut">
              <a:rPr lang="en-US" smtClean="0"/>
              <a:pPr/>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1170625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659548D-A246-4237-96D1-2270464244D9}" type="datetimeFigureOut">
              <a:rPr lang="en-US" smtClean="0"/>
              <a:pPr/>
              <a:t>3/24/2025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139164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59548D-A246-4237-96D1-2270464244D9}" type="datetimeFigureOut">
              <a:rPr lang="en-US" smtClean="0"/>
              <a:pPr/>
              <a:t>3/24/2025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1206830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59548D-A246-4237-96D1-2270464244D9}" type="datetimeFigureOut">
              <a:rPr lang="en-US" smtClean="0"/>
              <a:pPr/>
              <a:t>3/24/2025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1915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59548D-A246-4237-96D1-2270464244D9}" type="datetimeFigureOut">
              <a:rPr lang="en-US" smtClean="0"/>
              <a:pPr/>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2451484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59548D-A246-4237-96D1-2270464244D9}" type="datetimeFigureOut">
              <a:rPr lang="en-US" smtClean="0"/>
              <a:pPr/>
              <a:t>3/24/2025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953250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59548D-A246-4237-96D1-2270464244D9}" type="datetimeFigureOut">
              <a:rPr lang="en-US" smtClean="0"/>
              <a:pPr/>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493928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59548D-A246-4237-96D1-2270464244D9}" type="datetimeFigureOut">
              <a:rPr lang="en-US" smtClean="0"/>
              <a:pPr/>
              <a:t>3/24/2025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1021920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59548D-A246-4237-96D1-2270464244D9}" type="datetimeFigureOut">
              <a:rPr lang="en-US" smtClean="0"/>
              <a:pPr/>
              <a:t>3/24/2025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9F107D-B198-48E7-8342-7AE7CB415354}" type="slidenum">
              <a:rPr lang="en-US" smtClean="0"/>
              <a:pPr/>
              <a:t>‹#›</a:t>
            </a:fld>
            <a:endParaRPr lang="en-US"/>
          </a:p>
        </p:txBody>
      </p:sp>
    </p:spTree>
    <p:extLst>
      <p:ext uri="{BB962C8B-B14F-4D97-AF65-F5344CB8AC3E}">
        <p14:creationId xmlns:p14="http://schemas.microsoft.com/office/powerpoint/2010/main" xmlns="" val="3354993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458200" cy="2862322"/>
          </a:xfrm>
          <a:prstGeom prst="rect">
            <a:avLst/>
          </a:prstGeom>
        </p:spPr>
        <p:txBody>
          <a:bodyPr wrap="square">
            <a:spAutoFit/>
          </a:bodyPr>
          <a:lstStyle/>
          <a:p>
            <a:r>
              <a:rPr lang="en-US" sz="2000" b="1" dirty="0"/>
              <a:t>Techniques of knowledge </a:t>
            </a:r>
            <a:r>
              <a:rPr lang="en-US" sz="2000" b="1" dirty="0" smtClean="0"/>
              <a:t>representation</a:t>
            </a:r>
          </a:p>
          <a:p>
            <a:endParaRPr lang="en-US" sz="2000" b="1" dirty="0"/>
          </a:p>
          <a:p>
            <a:r>
              <a:rPr lang="en-US" sz="2000" dirty="0"/>
              <a:t>There are mainly four ways of knowledge representation which are given as follows</a:t>
            </a:r>
            <a:r>
              <a:rPr lang="en-US" sz="2000" dirty="0" smtClean="0"/>
              <a:t>:</a:t>
            </a:r>
          </a:p>
          <a:p>
            <a:endParaRPr lang="en-US" sz="2000" dirty="0"/>
          </a:p>
          <a:p>
            <a:pPr marL="285750" indent="-285750">
              <a:buFont typeface="Arial" panose="020B0604020202020204" pitchFamily="34" charset="0"/>
              <a:buChar char="•"/>
            </a:pPr>
            <a:r>
              <a:rPr lang="en-US" sz="2000" dirty="0"/>
              <a:t>Logical Representation</a:t>
            </a:r>
          </a:p>
          <a:p>
            <a:pPr marL="285750" indent="-285750">
              <a:buFont typeface="Arial" panose="020B0604020202020204" pitchFamily="34" charset="0"/>
              <a:buChar char="•"/>
            </a:pPr>
            <a:r>
              <a:rPr lang="en-US" sz="2000" dirty="0"/>
              <a:t>Semantic Network Representation</a:t>
            </a:r>
          </a:p>
          <a:p>
            <a:pPr marL="285750" indent="-285750">
              <a:buFont typeface="Arial" panose="020B0604020202020204" pitchFamily="34" charset="0"/>
              <a:buChar char="•"/>
            </a:pPr>
            <a:r>
              <a:rPr lang="en-US" sz="2000" dirty="0"/>
              <a:t>Frame Representation</a:t>
            </a:r>
          </a:p>
          <a:p>
            <a:pPr marL="285750" indent="-285750">
              <a:buFont typeface="Arial" panose="020B0604020202020204" pitchFamily="34" charset="0"/>
              <a:buChar char="•"/>
            </a:pPr>
            <a:r>
              <a:rPr lang="en-US" sz="2000" dirty="0"/>
              <a:t>Production Rules</a:t>
            </a:r>
          </a:p>
        </p:txBody>
      </p:sp>
      <p:pic>
        <p:nvPicPr>
          <p:cNvPr id="1026" name="Picture 2" descr="C:\Users\sony\Desktop\ai-techniques-of-knowledge-representation.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52600" y="3319522"/>
            <a:ext cx="5038725" cy="333375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356944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304800"/>
            <a:ext cx="8763000" cy="6370975"/>
          </a:xfrm>
          <a:prstGeom prst="rect">
            <a:avLst/>
          </a:prstGeom>
        </p:spPr>
        <p:txBody>
          <a:bodyPr wrap="square">
            <a:spAutoFit/>
          </a:bodyPr>
          <a:lstStyle/>
          <a:p>
            <a:r>
              <a:rPr lang="en-US" sz="2400" b="1" dirty="0" smtClean="0"/>
              <a:t>Logical Representation</a:t>
            </a:r>
          </a:p>
          <a:p>
            <a:endParaRPr lang="en-US" sz="2400" b="1" dirty="0"/>
          </a:p>
          <a:p>
            <a:pPr algn="just"/>
            <a:r>
              <a:rPr lang="en-US" sz="2000" dirty="0"/>
              <a:t>Logical representation is a language with some concrete rules which deals with propositions and has no ambiguity in representation. Logical representation means drawing a conclusion based on various conditions</a:t>
            </a:r>
            <a:r>
              <a:rPr lang="en-US" sz="2000" dirty="0" smtClean="0"/>
              <a:t>.</a:t>
            </a:r>
          </a:p>
          <a:p>
            <a:pPr algn="just"/>
            <a:endParaRPr lang="en-US" sz="2000" dirty="0"/>
          </a:p>
          <a:p>
            <a:pPr algn="just"/>
            <a:r>
              <a:rPr lang="en-US" sz="2000" dirty="0" smtClean="0"/>
              <a:t> </a:t>
            </a:r>
            <a:r>
              <a:rPr lang="en-US" sz="2000" dirty="0"/>
              <a:t>This representation lays down some important communication rules. It consists of precisely defined syntax and semantics which supports the sound inference. Each sentence can be translated into logics using syntax and semantics</a:t>
            </a:r>
            <a:r>
              <a:rPr lang="en-US" sz="2000" dirty="0" smtClean="0"/>
              <a:t>.</a:t>
            </a:r>
          </a:p>
          <a:p>
            <a:pPr algn="just"/>
            <a:endParaRPr lang="en-US" sz="2000" dirty="0"/>
          </a:p>
          <a:p>
            <a:pPr algn="just"/>
            <a:r>
              <a:rPr lang="en-US" sz="2000" b="1" dirty="0"/>
              <a:t>Syntax:</a:t>
            </a:r>
          </a:p>
          <a:p>
            <a:pPr marL="342900" indent="-342900" algn="just">
              <a:buFont typeface="Arial" panose="020B0604020202020204" pitchFamily="34" charset="0"/>
              <a:buChar char="•"/>
            </a:pPr>
            <a:r>
              <a:rPr lang="en-US" sz="2000" dirty="0"/>
              <a:t>Syntaxes are the rules which decide how we can construct legal sentences in the logic</a:t>
            </a:r>
            <a:r>
              <a:rPr lang="en-US" sz="2000" dirty="0" smtClean="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determines which symbol we can use in knowledge representation</a:t>
            </a:r>
            <a:r>
              <a:rPr lang="en-US" sz="2000" dirty="0" smtClean="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How to write those symbols.</a:t>
            </a:r>
          </a:p>
          <a:p>
            <a:pPr algn="just"/>
            <a:r>
              <a:rPr lang="en-US" sz="2000" b="1" dirty="0"/>
              <a:t>Semantics:</a:t>
            </a:r>
          </a:p>
          <a:p>
            <a:pPr marL="342900" indent="-342900" algn="just">
              <a:buFont typeface="Arial" panose="020B0604020202020204" pitchFamily="34" charset="0"/>
              <a:buChar char="•"/>
            </a:pPr>
            <a:r>
              <a:rPr lang="en-US" sz="2000" dirty="0"/>
              <a:t>Semantics are the rules by which we can interpret the sentence in the logic.</a:t>
            </a:r>
          </a:p>
          <a:p>
            <a:pPr marL="342900" indent="-342900" algn="just">
              <a:buFont typeface="Arial" panose="020B0604020202020204" pitchFamily="34" charset="0"/>
              <a:buChar char="•"/>
            </a:pPr>
            <a:r>
              <a:rPr lang="en-US" sz="2000" dirty="0"/>
              <a:t>Semantic also involves assigning a meaning to each sentence.</a:t>
            </a:r>
          </a:p>
        </p:txBody>
      </p:sp>
    </p:spTree>
    <p:extLst>
      <p:ext uri="{BB962C8B-B14F-4D97-AF65-F5344CB8AC3E}">
        <p14:creationId xmlns:p14="http://schemas.microsoft.com/office/powerpoint/2010/main" xmlns="" val="36643292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371600"/>
            <a:ext cx="8686800" cy="2923877"/>
          </a:xfrm>
          <a:prstGeom prst="rect">
            <a:avLst/>
          </a:prstGeom>
        </p:spPr>
        <p:txBody>
          <a:bodyPr wrap="square">
            <a:spAutoFit/>
          </a:bodyPr>
          <a:lstStyle/>
          <a:p>
            <a:endParaRPr lang="en-US" sz="2000" b="1" dirty="0"/>
          </a:p>
          <a:p>
            <a:pPr algn="just"/>
            <a:r>
              <a:rPr lang="en-US" dirty="0"/>
              <a:t>Propositional logic (PL) is the simplest form of logic where all the statements are made by propositions. A proposition is a declarative statement which is either true or false. It is a technique of knowledge representation in logical and mathematical form.</a:t>
            </a:r>
          </a:p>
          <a:p>
            <a:pPr algn="just"/>
            <a:r>
              <a:rPr lang="en-US" sz="2000" b="1" dirty="0"/>
              <a:t>Example</a:t>
            </a:r>
            <a:r>
              <a:rPr lang="en-US" sz="2000" b="1" dirty="0" smtClean="0"/>
              <a:t>:</a:t>
            </a:r>
          </a:p>
          <a:p>
            <a:pPr algn="just"/>
            <a:endParaRPr lang="en-US" dirty="0"/>
          </a:p>
          <a:p>
            <a:pPr algn="just"/>
            <a:r>
              <a:rPr lang="en-US" dirty="0"/>
              <a:t>a) It is Sunday.  </a:t>
            </a:r>
          </a:p>
          <a:p>
            <a:pPr algn="just"/>
            <a:r>
              <a:rPr lang="en-US" dirty="0"/>
              <a:t>b) The Sun rises from West (False proposition)  </a:t>
            </a:r>
          </a:p>
          <a:p>
            <a:pPr algn="just"/>
            <a:r>
              <a:rPr lang="en-US" dirty="0"/>
              <a:t>c) 3+3= 7(False proposition)  </a:t>
            </a:r>
          </a:p>
          <a:p>
            <a:pPr algn="just"/>
            <a:r>
              <a:rPr lang="en-US" dirty="0"/>
              <a:t>d) 5 is a prime number.   </a:t>
            </a:r>
          </a:p>
        </p:txBody>
      </p:sp>
      <p:sp>
        <p:nvSpPr>
          <p:cNvPr id="3" name="Rectangle 2"/>
          <p:cNvSpPr/>
          <p:nvPr/>
        </p:nvSpPr>
        <p:spPr>
          <a:xfrm>
            <a:off x="3298542" y="378767"/>
            <a:ext cx="2546916" cy="461665"/>
          </a:xfrm>
          <a:prstGeom prst="rect">
            <a:avLst/>
          </a:prstGeom>
        </p:spPr>
        <p:txBody>
          <a:bodyPr wrap="none">
            <a:spAutoFit/>
          </a:bodyPr>
          <a:lstStyle/>
          <a:p>
            <a:r>
              <a:rPr lang="en-US" sz="2400" b="1" dirty="0" smtClean="0"/>
              <a:t>Propositional logic</a:t>
            </a:r>
          </a:p>
        </p:txBody>
      </p:sp>
    </p:spTree>
    <p:extLst>
      <p:ext uri="{BB962C8B-B14F-4D97-AF65-F5344CB8AC3E}">
        <p14:creationId xmlns:p14="http://schemas.microsoft.com/office/powerpoint/2010/main" xmlns="" val="31324792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457200"/>
            <a:ext cx="8763000" cy="5570756"/>
          </a:xfrm>
          <a:prstGeom prst="rect">
            <a:avLst/>
          </a:prstGeom>
        </p:spPr>
        <p:txBody>
          <a:bodyPr wrap="square">
            <a:spAutoFit/>
          </a:bodyPr>
          <a:lstStyle/>
          <a:p>
            <a:r>
              <a:rPr lang="en-US" b="1" dirty="0"/>
              <a:t>S</a:t>
            </a:r>
            <a:r>
              <a:rPr lang="en-US" b="1" dirty="0" smtClean="0"/>
              <a:t>ome </a:t>
            </a:r>
            <a:r>
              <a:rPr lang="en-US" b="1" dirty="0"/>
              <a:t>basic facts about propositional logic</a:t>
            </a:r>
            <a:r>
              <a:rPr lang="en-US" b="1" dirty="0" smtClean="0"/>
              <a:t>:</a:t>
            </a:r>
          </a:p>
          <a:p>
            <a:endParaRPr lang="en-US" dirty="0"/>
          </a:p>
          <a:p>
            <a:pPr marL="285750" indent="-285750">
              <a:buFont typeface="Arial" panose="020B0604020202020204" pitchFamily="34" charset="0"/>
              <a:buChar char="•"/>
            </a:pPr>
            <a:r>
              <a:rPr lang="en-US" sz="2000" dirty="0"/>
              <a:t>Propositional logic is also called Boolean logic as it works on 0 and 1.</a:t>
            </a:r>
          </a:p>
          <a:p>
            <a:pPr marL="285750" indent="-285750">
              <a:buFont typeface="Arial" panose="020B0604020202020204" pitchFamily="34" charset="0"/>
              <a:buChar char="•"/>
            </a:pPr>
            <a:r>
              <a:rPr lang="en-US" sz="2000" dirty="0"/>
              <a:t>In propositional logic, we use symbolic variables to represent the logic, and we can use any symbol for a representing a proposition, such A, B, C, P, Q, R, etc.</a:t>
            </a:r>
          </a:p>
          <a:p>
            <a:pPr marL="285750" indent="-285750">
              <a:buFont typeface="Arial" panose="020B0604020202020204" pitchFamily="34" charset="0"/>
              <a:buChar char="•"/>
            </a:pPr>
            <a:r>
              <a:rPr lang="en-US" sz="2000" dirty="0"/>
              <a:t>Propositions can be either true or false, but it cannot be both.</a:t>
            </a:r>
          </a:p>
          <a:p>
            <a:pPr marL="285750" indent="-285750">
              <a:buFont typeface="Arial" panose="020B0604020202020204" pitchFamily="34" charset="0"/>
              <a:buChar char="•"/>
            </a:pPr>
            <a:r>
              <a:rPr lang="en-US" sz="2000" dirty="0"/>
              <a:t>Propositional logic consists of an object, relations or function, and </a:t>
            </a:r>
            <a:r>
              <a:rPr lang="en-US" sz="2000" b="1" dirty="0"/>
              <a:t>logical connectives</a:t>
            </a:r>
            <a:r>
              <a:rPr lang="en-US" sz="2000" dirty="0"/>
              <a:t>.</a:t>
            </a:r>
          </a:p>
          <a:p>
            <a:pPr marL="285750" indent="-285750">
              <a:buFont typeface="Arial" panose="020B0604020202020204" pitchFamily="34" charset="0"/>
              <a:buChar char="•"/>
            </a:pPr>
            <a:r>
              <a:rPr lang="en-US" sz="2000" dirty="0"/>
              <a:t>These connectives are also called logical operators.</a:t>
            </a:r>
          </a:p>
          <a:p>
            <a:pPr marL="285750" indent="-285750">
              <a:buFont typeface="Arial" panose="020B0604020202020204" pitchFamily="34" charset="0"/>
              <a:buChar char="•"/>
            </a:pPr>
            <a:r>
              <a:rPr lang="en-US" sz="2000" dirty="0"/>
              <a:t>The propositions and connectives are the basic elements of the propositional logic.</a:t>
            </a:r>
          </a:p>
          <a:p>
            <a:pPr marL="285750" indent="-285750">
              <a:buFont typeface="Arial" panose="020B0604020202020204" pitchFamily="34" charset="0"/>
              <a:buChar char="•"/>
            </a:pPr>
            <a:r>
              <a:rPr lang="en-US" sz="2000" dirty="0"/>
              <a:t>Connectives can be said as a logical operator which connects two sentences.</a:t>
            </a:r>
          </a:p>
          <a:p>
            <a:pPr marL="285750" indent="-285750">
              <a:buFont typeface="Arial" panose="020B0604020202020204" pitchFamily="34" charset="0"/>
              <a:buChar char="•"/>
            </a:pPr>
            <a:r>
              <a:rPr lang="en-US" sz="2000" dirty="0"/>
              <a:t>A proposition formula which is always true is called </a:t>
            </a:r>
            <a:r>
              <a:rPr lang="en-US" sz="2000" b="1" dirty="0"/>
              <a:t>tautology</a:t>
            </a:r>
            <a:r>
              <a:rPr lang="en-US" sz="2000" dirty="0"/>
              <a:t>, and it is also called a valid sentence.</a:t>
            </a:r>
          </a:p>
          <a:p>
            <a:pPr marL="285750" indent="-285750">
              <a:buFont typeface="Arial" panose="020B0604020202020204" pitchFamily="34" charset="0"/>
              <a:buChar char="•"/>
            </a:pPr>
            <a:r>
              <a:rPr lang="en-US" sz="2000" dirty="0"/>
              <a:t>A proposition formula which is always false is called </a:t>
            </a:r>
            <a:r>
              <a:rPr lang="en-US" sz="2000" b="1" dirty="0"/>
              <a:t>Contradiction</a:t>
            </a:r>
            <a:r>
              <a:rPr lang="en-US" sz="2000" dirty="0"/>
              <a:t>.</a:t>
            </a:r>
          </a:p>
          <a:p>
            <a:pPr marL="285750" indent="-285750">
              <a:buFont typeface="Arial" panose="020B0604020202020204" pitchFamily="34" charset="0"/>
              <a:buChar char="•"/>
            </a:pPr>
            <a:r>
              <a:rPr lang="en-US" sz="2000" dirty="0" smtClean="0"/>
              <a:t>Statements </a:t>
            </a:r>
            <a:r>
              <a:rPr lang="en-US" sz="2000" dirty="0"/>
              <a:t>which are questions, commands, or opinions are not propositions such as "</a:t>
            </a:r>
            <a:r>
              <a:rPr lang="en-US" sz="2000" b="1" dirty="0"/>
              <a:t>Where is </a:t>
            </a:r>
            <a:r>
              <a:rPr lang="en-US" sz="2000" b="1" dirty="0" err="1"/>
              <a:t>Rohini</a:t>
            </a:r>
            <a:r>
              <a:rPr lang="en-US" sz="2000" dirty="0"/>
              <a:t>", "</a:t>
            </a:r>
            <a:r>
              <a:rPr lang="en-US" sz="2000" b="1" dirty="0"/>
              <a:t>How are you</a:t>
            </a:r>
            <a:r>
              <a:rPr lang="en-US" sz="2000" dirty="0"/>
              <a:t>", "</a:t>
            </a:r>
            <a:r>
              <a:rPr lang="en-US" sz="2000" b="1" dirty="0"/>
              <a:t>What is your name</a:t>
            </a:r>
            <a:r>
              <a:rPr lang="en-US" sz="2000" dirty="0"/>
              <a:t>", are not propositions.</a:t>
            </a:r>
          </a:p>
        </p:txBody>
      </p:sp>
    </p:spTree>
    <p:extLst>
      <p:ext uri="{BB962C8B-B14F-4D97-AF65-F5344CB8AC3E}">
        <p14:creationId xmlns:p14="http://schemas.microsoft.com/office/powerpoint/2010/main" xmlns="" val="39166119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618" y="609600"/>
            <a:ext cx="8763000" cy="2923877"/>
          </a:xfrm>
          <a:prstGeom prst="rect">
            <a:avLst/>
          </a:prstGeom>
        </p:spPr>
        <p:txBody>
          <a:bodyPr wrap="square">
            <a:spAutoFit/>
          </a:bodyPr>
          <a:lstStyle/>
          <a:p>
            <a:pPr algn="just"/>
            <a:r>
              <a:rPr lang="en-US" sz="2000" b="1" dirty="0" smtClean="0"/>
              <a:t>Syntax of propositional logic:</a:t>
            </a:r>
          </a:p>
          <a:p>
            <a:pPr algn="just"/>
            <a:endParaRPr lang="en-US" sz="2000" b="1" dirty="0" smtClean="0"/>
          </a:p>
          <a:p>
            <a:pPr algn="just"/>
            <a:r>
              <a:rPr lang="en-US" dirty="0" smtClean="0"/>
              <a:t>The syntax of propositional logic defines the allowable sentences for the knowledge representation. There are two types of Propositions:</a:t>
            </a:r>
          </a:p>
          <a:p>
            <a:pPr marL="285750" indent="-285750" algn="just">
              <a:buFont typeface="Arial" panose="020B0604020202020204" pitchFamily="34" charset="0"/>
              <a:buChar char="•"/>
            </a:pPr>
            <a:r>
              <a:rPr lang="en-US" b="1" dirty="0" smtClean="0"/>
              <a:t>Atomic Propositions</a:t>
            </a:r>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b="1" dirty="0" smtClean="0"/>
              <a:t>Compound propositions</a:t>
            </a:r>
          </a:p>
          <a:p>
            <a:pPr algn="just"/>
            <a:endParaRPr lang="en-US" dirty="0" smtClean="0"/>
          </a:p>
          <a:p>
            <a:pPr algn="just"/>
            <a:r>
              <a:rPr lang="en-US" b="1" dirty="0" smtClean="0"/>
              <a:t>Atomic Proposition:</a:t>
            </a:r>
            <a:r>
              <a:rPr lang="en-US" dirty="0" smtClean="0"/>
              <a:t> Atomic propositions are the simple propositions. It consists of a single proposition symbol. These are the sentences which must be either true or false.</a:t>
            </a:r>
            <a:endParaRPr lang="en-US" dirty="0"/>
          </a:p>
        </p:txBody>
      </p:sp>
      <p:sp>
        <p:nvSpPr>
          <p:cNvPr id="3" name="Rectangle 2"/>
          <p:cNvSpPr/>
          <p:nvPr/>
        </p:nvSpPr>
        <p:spPr>
          <a:xfrm>
            <a:off x="436418" y="4343400"/>
            <a:ext cx="8458200" cy="923330"/>
          </a:xfrm>
          <a:prstGeom prst="rect">
            <a:avLst/>
          </a:prstGeom>
        </p:spPr>
        <p:txBody>
          <a:bodyPr wrap="square">
            <a:spAutoFit/>
          </a:bodyPr>
          <a:lstStyle/>
          <a:p>
            <a:r>
              <a:rPr lang="en-US" dirty="0">
                <a:solidFill>
                  <a:srgbClr val="FF0000"/>
                </a:solidFill>
              </a:rPr>
              <a:t>a) 2+2 is 4, it is an atomic proposition as it is a </a:t>
            </a:r>
            <a:r>
              <a:rPr lang="en-US" b="1" dirty="0">
                <a:solidFill>
                  <a:srgbClr val="FF0000"/>
                </a:solidFill>
              </a:rPr>
              <a:t>true</a:t>
            </a:r>
            <a:r>
              <a:rPr lang="en-US" dirty="0">
                <a:solidFill>
                  <a:srgbClr val="FF0000"/>
                </a:solidFill>
              </a:rPr>
              <a:t> fact.  </a:t>
            </a:r>
            <a:endParaRPr lang="en-US" dirty="0" smtClean="0">
              <a:solidFill>
                <a:srgbClr val="FF0000"/>
              </a:solidFill>
            </a:endParaRPr>
          </a:p>
          <a:p>
            <a:endParaRPr lang="en-US" dirty="0">
              <a:solidFill>
                <a:srgbClr val="FF0000"/>
              </a:solidFill>
            </a:endParaRPr>
          </a:p>
          <a:p>
            <a:r>
              <a:rPr lang="en-US" dirty="0">
                <a:solidFill>
                  <a:srgbClr val="FF0000"/>
                </a:solidFill>
              </a:rPr>
              <a:t>b) "The Sun is cold" is also a proposition as it is a </a:t>
            </a:r>
            <a:r>
              <a:rPr lang="en-US" b="1" dirty="0">
                <a:solidFill>
                  <a:srgbClr val="FF0000"/>
                </a:solidFill>
              </a:rPr>
              <a:t>false</a:t>
            </a:r>
            <a:r>
              <a:rPr lang="en-US" dirty="0">
                <a:solidFill>
                  <a:srgbClr val="FF0000"/>
                </a:solidFill>
              </a:rPr>
              <a:t> fact.   </a:t>
            </a:r>
          </a:p>
        </p:txBody>
      </p:sp>
    </p:spTree>
    <p:extLst>
      <p:ext uri="{BB962C8B-B14F-4D97-AF65-F5344CB8AC3E}">
        <p14:creationId xmlns:p14="http://schemas.microsoft.com/office/powerpoint/2010/main" xmlns="" val="26376743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74838"/>
            <a:ext cx="8763000" cy="2246769"/>
          </a:xfrm>
          <a:prstGeom prst="rect">
            <a:avLst/>
          </a:prstGeom>
        </p:spPr>
        <p:txBody>
          <a:bodyPr wrap="square">
            <a:spAutoFit/>
          </a:bodyPr>
          <a:lstStyle/>
          <a:p>
            <a:pPr algn="just"/>
            <a:r>
              <a:rPr lang="en-US" sz="2000" b="1" dirty="0"/>
              <a:t>Compound proposition:</a:t>
            </a:r>
            <a:r>
              <a:rPr lang="en-US" sz="2000" dirty="0"/>
              <a:t> Compound propositions are constructed by combining simpler or atomic propositions, using parenthesis and logical connectives</a:t>
            </a:r>
            <a:r>
              <a:rPr lang="en-US" sz="2000" dirty="0" smtClean="0"/>
              <a:t>.</a:t>
            </a:r>
          </a:p>
          <a:p>
            <a:pPr algn="just"/>
            <a:endParaRPr lang="en-US" sz="2000" dirty="0"/>
          </a:p>
          <a:p>
            <a:pPr algn="just"/>
            <a:r>
              <a:rPr lang="en-US" sz="2000" b="1" dirty="0"/>
              <a:t>Example:</a:t>
            </a:r>
            <a:endParaRPr lang="en-US" sz="2000" dirty="0"/>
          </a:p>
          <a:p>
            <a:pPr algn="just"/>
            <a:r>
              <a:rPr lang="en-US" sz="2000" dirty="0"/>
              <a:t>a) "It is raining today, and street is wet."  </a:t>
            </a:r>
            <a:endParaRPr lang="en-US" sz="2000" dirty="0" smtClean="0"/>
          </a:p>
          <a:p>
            <a:pPr algn="just"/>
            <a:endParaRPr lang="en-US" sz="2000" dirty="0"/>
          </a:p>
          <a:p>
            <a:pPr algn="just"/>
            <a:r>
              <a:rPr lang="en-US" sz="2000" dirty="0"/>
              <a:t>b) "Ankit is a doctor, and his clinic is in Mumbai." </a:t>
            </a:r>
          </a:p>
        </p:txBody>
      </p:sp>
    </p:spTree>
    <p:extLst>
      <p:ext uri="{BB962C8B-B14F-4D97-AF65-F5344CB8AC3E}">
        <p14:creationId xmlns:p14="http://schemas.microsoft.com/office/powerpoint/2010/main" xmlns="" val="42399677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673" y="457200"/>
            <a:ext cx="8686800" cy="5355312"/>
          </a:xfrm>
          <a:prstGeom prst="rect">
            <a:avLst/>
          </a:prstGeom>
        </p:spPr>
        <p:txBody>
          <a:bodyPr wrap="square">
            <a:spAutoFit/>
          </a:bodyPr>
          <a:lstStyle/>
          <a:p>
            <a:pPr algn="just"/>
            <a:r>
              <a:rPr lang="en-US" b="1" dirty="0"/>
              <a:t>Logical Connectives:</a:t>
            </a:r>
          </a:p>
          <a:p>
            <a:r>
              <a:rPr lang="en-US" dirty="0"/>
              <a:t>Logical connectives are used to connect two simpler propositions or representing a sentence logically. We can create compound propositions with the help of logical connectives. There are mainly five connectives, which are given as follows</a:t>
            </a:r>
            <a:r>
              <a:rPr lang="en-US" dirty="0" smtClean="0"/>
              <a:t>:</a:t>
            </a:r>
          </a:p>
          <a:p>
            <a:endParaRPr lang="en-US" dirty="0"/>
          </a:p>
          <a:p>
            <a:r>
              <a:rPr lang="en-US" b="1" dirty="0"/>
              <a:t>Negation:</a:t>
            </a:r>
            <a:r>
              <a:rPr lang="en-US" dirty="0"/>
              <a:t> A sentence such as ¬ P is called negation of P. A literal can be either Positive literal or negative literal</a:t>
            </a:r>
            <a:r>
              <a:rPr lang="en-US" dirty="0" smtClean="0"/>
              <a:t>.</a:t>
            </a:r>
          </a:p>
          <a:p>
            <a:endParaRPr lang="en-US" dirty="0"/>
          </a:p>
          <a:p>
            <a:r>
              <a:rPr lang="en-US" b="1" dirty="0"/>
              <a:t>Conjunction:</a:t>
            </a:r>
            <a:r>
              <a:rPr lang="en-US" dirty="0"/>
              <a:t> A sentence which has </a:t>
            </a:r>
            <a:r>
              <a:rPr lang="en-US" b="1" dirty="0"/>
              <a:t>∧ </a:t>
            </a:r>
            <a:r>
              <a:rPr lang="en-US" dirty="0"/>
              <a:t>connective such as, </a:t>
            </a:r>
            <a:r>
              <a:rPr lang="en-US" b="1" dirty="0"/>
              <a:t>P ∧ Q</a:t>
            </a:r>
            <a:r>
              <a:rPr lang="en-US" dirty="0"/>
              <a:t> is called a conjunction.</a:t>
            </a:r>
            <a:br>
              <a:rPr lang="en-US" dirty="0"/>
            </a:br>
            <a:r>
              <a:rPr lang="en-US" b="1" dirty="0"/>
              <a:t>Example:</a:t>
            </a:r>
            <a:r>
              <a:rPr lang="en-US" dirty="0"/>
              <a:t> Rohan is intelligent and hardworking. It can be written as</a:t>
            </a:r>
            <a:r>
              <a:rPr lang="en-US" dirty="0" smtClean="0"/>
              <a:t>,</a:t>
            </a:r>
          </a:p>
          <a:p>
            <a:r>
              <a:rPr lang="en-US" dirty="0"/>
              <a:t/>
            </a:r>
            <a:br>
              <a:rPr lang="en-US" dirty="0"/>
            </a:br>
            <a:r>
              <a:rPr lang="en-US" b="1" dirty="0"/>
              <a:t>P= Rohan is intelligent</a:t>
            </a:r>
            <a:r>
              <a:rPr lang="en-US" dirty="0"/>
              <a:t>,</a:t>
            </a:r>
            <a:br>
              <a:rPr lang="en-US" dirty="0"/>
            </a:br>
            <a:r>
              <a:rPr lang="en-US" b="1" dirty="0"/>
              <a:t>Q= Rohan is hardworking. → P∧ Q</a:t>
            </a:r>
            <a:r>
              <a:rPr lang="en-US" dirty="0" smtClean="0"/>
              <a:t>.</a:t>
            </a:r>
          </a:p>
          <a:p>
            <a:endParaRPr lang="en-US" dirty="0"/>
          </a:p>
          <a:p>
            <a:r>
              <a:rPr lang="en-US" b="1" dirty="0"/>
              <a:t>Disjunction:</a:t>
            </a:r>
            <a:r>
              <a:rPr lang="en-US" dirty="0"/>
              <a:t> A sentence which has ∨ connective, such as </a:t>
            </a:r>
            <a:r>
              <a:rPr lang="en-US" b="1" dirty="0"/>
              <a:t>P ∨ Q</a:t>
            </a:r>
            <a:r>
              <a:rPr lang="en-US" dirty="0"/>
              <a:t>. is called disjunction, where P and Q are the propositions.</a:t>
            </a:r>
            <a:br>
              <a:rPr lang="en-US" dirty="0"/>
            </a:br>
            <a:r>
              <a:rPr lang="en-US" b="1" dirty="0"/>
              <a:t>Example: "</a:t>
            </a:r>
            <a:r>
              <a:rPr lang="en-US" b="1" dirty="0" err="1"/>
              <a:t>Ritika</a:t>
            </a:r>
            <a:r>
              <a:rPr lang="en-US" b="1" dirty="0"/>
              <a:t> is a doctor or Engineer"</a:t>
            </a:r>
            <a:r>
              <a:rPr lang="en-US" dirty="0"/>
              <a:t>,</a:t>
            </a:r>
            <a:br>
              <a:rPr lang="en-US" dirty="0"/>
            </a:br>
            <a:r>
              <a:rPr lang="en-US" dirty="0"/>
              <a:t>Here P= </a:t>
            </a:r>
            <a:r>
              <a:rPr lang="en-US" dirty="0" err="1"/>
              <a:t>Ritika</a:t>
            </a:r>
            <a:r>
              <a:rPr lang="en-US" dirty="0"/>
              <a:t> is Doctor. Q= </a:t>
            </a:r>
            <a:r>
              <a:rPr lang="en-US" dirty="0" err="1"/>
              <a:t>Ritika</a:t>
            </a:r>
            <a:r>
              <a:rPr lang="en-US" dirty="0"/>
              <a:t> is Doctor, so we can write it as </a:t>
            </a:r>
            <a:r>
              <a:rPr lang="en-US" b="1" dirty="0"/>
              <a:t>P ∨ Q</a:t>
            </a:r>
            <a:r>
              <a:rPr lang="en-US" dirty="0" smtClean="0"/>
              <a:t>.</a:t>
            </a:r>
          </a:p>
          <a:p>
            <a:endParaRPr lang="en-US" dirty="0"/>
          </a:p>
        </p:txBody>
      </p:sp>
    </p:spTree>
    <p:extLst>
      <p:ext uri="{BB962C8B-B14F-4D97-AF65-F5344CB8AC3E}">
        <p14:creationId xmlns:p14="http://schemas.microsoft.com/office/powerpoint/2010/main" xmlns="" val="159779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91" y="1143000"/>
            <a:ext cx="8534400" cy="2308324"/>
          </a:xfrm>
          <a:prstGeom prst="rect">
            <a:avLst/>
          </a:prstGeom>
        </p:spPr>
        <p:txBody>
          <a:bodyPr wrap="square">
            <a:spAutoFit/>
          </a:bodyPr>
          <a:lstStyle/>
          <a:p>
            <a:r>
              <a:rPr lang="en-US" b="1" dirty="0" smtClean="0"/>
              <a:t>Implication:</a:t>
            </a:r>
            <a:r>
              <a:rPr lang="en-US" dirty="0" smtClean="0"/>
              <a:t> A sentence such as P → Q, is called an implication. Implications are also known as if-then rules. It can be represented as</a:t>
            </a:r>
            <a:br>
              <a:rPr lang="en-US" dirty="0" smtClean="0"/>
            </a:br>
            <a:r>
              <a:rPr lang="en-US" dirty="0" smtClean="0"/>
              <a:t>            </a:t>
            </a:r>
            <a:r>
              <a:rPr lang="en-US" b="1" dirty="0" smtClean="0"/>
              <a:t>If</a:t>
            </a:r>
            <a:r>
              <a:rPr lang="en-US" dirty="0" smtClean="0"/>
              <a:t> it is raining, then the street is wet.</a:t>
            </a:r>
            <a:br>
              <a:rPr lang="en-US" dirty="0" smtClean="0"/>
            </a:br>
            <a:r>
              <a:rPr lang="en-US" dirty="0" smtClean="0"/>
              <a:t>        Let P= It is raining, and Q= Street is wet, so it is represented as P → Q</a:t>
            </a:r>
          </a:p>
          <a:p>
            <a:endParaRPr lang="en-US" dirty="0" smtClean="0"/>
          </a:p>
          <a:p>
            <a:r>
              <a:rPr lang="en-US" b="1" dirty="0" err="1" smtClean="0"/>
              <a:t>Biconditional</a:t>
            </a:r>
            <a:r>
              <a:rPr lang="en-US" b="1" dirty="0" smtClean="0"/>
              <a:t>:</a:t>
            </a:r>
            <a:r>
              <a:rPr lang="en-US" dirty="0" smtClean="0"/>
              <a:t> A sentence such as </a:t>
            </a:r>
            <a:r>
              <a:rPr lang="en-US" b="1" dirty="0" smtClean="0"/>
              <a:t>P⇔ Q is a </a:t>
            </a:r>
            <a:r>
              <a:rPr lang="en-US" b="1" dirty="0" err="1" smtClean="0"/>
              <a:t>Biconditional</a:t>
            </a:r>
            <a:r>
              <a:rPr lang="en-US" b="1" dirty="0" smtClean="0"/>
              <a:t> sentence, example If I am breathing, then I am alive</a:t>
            </a:r>
            <a:r>
              <a:rPr lang="en-US" dirty="0" smtClean="0"/>
              <a:t/>
            </a:r>
            <a:br>
              <a:rPr lang="en-US" dirty="0" smtClean="0"/>
            </a:br>
            <a:r>
              <a:rPr lang="en-US" dirty="0" smtClean="0"/>
              <a:t>            P= I am breathing, Q= I am alive, it can be represented as P ⇔ Q.</a:t>
            </a:r>
            <a:endParaRPr lang="en-US" dirty="0"/>
          </a:p>
        </p:txBody>
      </p:sp>
      <p:pic>
        <p:nvPicPr>
          <p:cNvPr id="1026" name="Picture 2" descr="C:\Users\sony\Desktop\propositional-logic-in-ai.pn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36296" y="3983182"/>
            <a:ext cx="8475195" cy="18288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517068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sony\Desktop\Capture.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3400" y="533400"/>
            <a:ext cx="7615175" cy="5562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1433963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sony\Desktop\Capture.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81000" y="990600"/>
            <a:ext cx="7916152" cy="4038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885137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62000"/>
            <a:ext cx="8534400" cy="1200329"/>
          </a:xfrm>
          <a:prstGeom prst="rect">
            <a:avLst/>
          </a:prstGeom>
        </p:spPr>
        <p:txBody>
          <a:bodyPr wrap="square">
            <a:spAutoFit/>
          </a:bodyPr>
          <a:lstStyle/>
          <a:p>
            <a:r>
              <a:rPr lang="en-US" b="1" dirty="0"/>
              <a:t>Truth table with three propositions</a:t>
            </a:r>
            <a:r>
              <a:rPr lang="en-US" b="1" dirty="0" smtClean="0"/>
              <a:t>:</a:t>
            </a:r>
          </a:p>
          <a:p>
            <a:endParaRPr lang="en-US" b="1" dirty="0"/>
          </a:p>
          <a:p>
            <a:r>
              <a:rPr lang="en-US" dirty="0"/>
              <a:t>We can build a proposition composing three propositions P, Q, and R. This truth table is made-up of 8n Tuples as we have taken three proposition symbols.</a:t>
            </a:r>
          </a:p>
        </p:txBody>
      </p:sp>
      <p:pic>
        <p:nvPicPr>
          <p:cNvPr id="4098" name="Picture 2" descr="C:\Users\sony\Desktop\Capture.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09726" y="2667000"/>
            <a:ext cx="8124548" cy="25908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66861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7091" y="762000"/>
            <a:ext cx="8610600" cy="1200329"/>
          </a:xfrm>
          <a:prstGeom prst="rect">
            <a:avLst/>
          </a:prstGeom>
        </p:spPr>
        <p:txBody>
          <a:bodyPr wrap="square">
            <a:spAutoFit/>
          </a:bodyPr>
          <a:lstStyle/>
          <a:p>
            <a:r>
              <a:rPr lang="en-US" b="1" dirty="0"/>
              <a:t>Precedence of connectives:</a:t>
            </a:r>
          </a:p>
          <a:p>
            <a:r>
              <a:rPr lang="en-US" dirty="0"/>
              <a:t>Just like arithmetic operators, there is a precedence order for propositional connectors or logical operators. This order should be followed while evaluating a propositional problem. Following is the list of the precedence order for operators:</a:t>
            </a:r>
          </a:p>
        </p:txBody>
      </p:sp>
      <p:pic>
        <p:nvPicPr>
          <p:cNvPr id="5122" name="Picture 2" descr="C:\Users\sony\Desktop\Capture.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09600" y="2438400"/>
            <a:ext cx="7495098" cy="3276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83174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610600" cy="2646878"/>
          </a:xfrm>
          <a:prstGeom prst="rect">
            <a:avLst/>
          </a:prstGeom>
        </p:spPr>
        <p:txBody>
          <a:bodyPr wrap="square">
            <a:spAutoFit/>
          </a:bodyPr>
          <a:lstStyle/>
          <a:p>
            <a:r>
              <a:rPr lang="en-US" sz="2000" b="1" dirty="0"/>
              <a:t>Logical equivalence</a:t>
            </a:r>
            <a:r>
              <a:rPr lang="en-US" sz="2000" b="1" dirty="0" smtClean="0"/>
              <a:t>:</a:t>
            </a:r>
          </a:p>
          <a:p>
            <a:endParaRPr lang="en-US" sz="2000" b="1" dirty="0"/>
          </a:p>
          <a:p>
            <a:r>
              <a:rPr lang="en-US" dirty="0"/>
              <a:t>Logical equivalence is one of the features of propositional logic. Two propositions are said to be logically equivalent if and only if the columns in the truth table are identical to each other</a:t>
            </a:r>
            <a:r>
              <a:rPr lang="en-US" dirty="0" smtClean="0"/>
              <a:t>.</a:t>
            </a:r>
          </a:p>
          <a:p>
            <a:endParaRPr lang="en-US" dirty="0"/>
          </a:p>
          <a:p>
            <a:r>
              <a:rPr lang="en-US" dirty="0"/>
              <a:t>Let's take two propositions A and B, so for logical equivalence, we can write it as A⇔B. In below truth table we can see that column for ¬A∨ B and A→B, are identical hence A is Equivalent to B</a:t>
            </a:r>
          </a:p>
        </p:txBody>
      </p:sp>
      <p:pic>
        <p:nvPicPr>
          <p:cNvPr id="6146" name="Picture 2" descr="C:\Users\sony\Desktop\Capture.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2000" y="3810000"/>
            <a:ext cx="7482230" cy="14478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8093790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1200" y="685800"/>
            <a:ext cx="4572000" cy="5663089"/>
          </a:xfrm>
          <a:prstGeom prst="rect">
            <a:avLst/>
          </a:prstGeom>
        </p:spPr>
        <p:txBody>
          <a:bodyPr>
            <a:spAutoFit/>
          </a:bodyPr>
          <a:lstStyle/>
          <a:p>
            <a:r>
              <a:rPr lang="en-US" sz="2000" b="1" dirty="0">
                <a:solidFill>
                  <a:srgbClr val="FF0000"/>
                </a:solidFill>
              </a:rPr>
              <a:t>Properties of Operators</a:t>
            </a:r>
            <a:r>
              <a:rPr lang="en-US" sz="2000" b="1" dirty="0" smtClean="0">
                <a:solidFill>
                  <a:srgbClr val="FF0000"/>
                </a:solidFill>
              </a:rPr>
              <a:t>:</a:t>
            </a:r>
          </a:p>
          <a:p>
            <a:endParaRPr lang="en-US" sz="2800" b="1" dirty="0"/>
          </a:p>
          <a:p>
            <a:r>
              <a:rPr lang="en-US" b="1" dirty="0"/>
              <a:t>Commutativity:</a:t>
            </a:r>
            <a:endParaRPr lang="en-US" dirty="0"/>
          </a:p>
          <a:p>
            <a:pPr lvl="1"/>
            <a:r>
              <a:rPr lang="en-US" dirty="0"/>
              <a:t>P∧ Q= Q ∧ P, or</a:t>
            </a:r>
          </a:p>
          <a:p>
            <a:pPr lvl="1"/>
            <a:r>
              <a:rPr lang="en-US" dirty="0"/>
              <a:t>P ∨ Q = Q ∨ P.</a:t>
            </a:r>
          </a:p>
          <a:p>
            <a:r>
              <a:rPr lang="en-US" b="1" dirty="0"/>
              <a:t>Associativity:</a:t>
            </a:r>
            <a:endParaRPr lang="en-US" dirty="0"/>
          </a:p>
          <a:p>
            <a:pPr lvl="1"/>
            <a:r>
              <a:rPr lang="en-US" dirty="0"/>
              <a:t>(P ∧ Q) ∧ R= P ∧ (Q ∧ R),</a:t>
            </a:r>
          </a:p>
          <a:p>
            <a:pPr lvl="1"/>
            <a:r>
              <a:rPr lang="en-US" dirty="0"/>
              <a:t>(P ∨ Q) ∨ R= P ∨ (Q ∨ R)</a:t>
            </a:r>
          </a:p>
          <a:p>
            <a:r>
              <a:rPr lang="en-US" b="1" dirty="0"/>
              <a:t>Identity element:</a:t>
            </a:r>
            <a:endParaRPr lang="en-US" dirty="0"/>
          </a:p>
          <a:p>
            <a:pPr lvl="1"/>
            <a:r>
              <a:rPr lang="en-US" dirty="0"/>
              <a:t>P ∧ True = P,</a:t>
            </a:r>
          </a:p>
          <a:p>
            <a:pPr lvl="1"/>
            <a:r>
              <a:rPr lang="en-US" dirty="0"/>
              <a:t>P ∨ True= True.</a:t>
            </a:r>
          </a:p>
          <a:p>
            <a:r>
              <a:rPr lang="en-US" b="1" dirty="0"/>
              <a:t>Distributive:</a:t>
            </a:r>
            <a:endParaRPr lang="en-US" dirty="0"/>
          </a:p>
          <a:p>
            <a:pPr lvl="1"/>
            <a:r>
              <a:rPr lang="en-US" dirty="0"/>
              <a:t>P∧ (Q ∨ R) = (P ∧ Q) ∨ (P ∧ R).</a:t>
            </a:r>
          </a:p>
          <a:p>
            <a:pPr lvl="1"/>
            <a:r>
              <a:rPr lang="en-US" dirty="0"/>
              <a:t>P ∨ (Q ∧ R) = (P ∨ Q) ∧ (P ∨ R).</a:t>
            </a:r>
          </a:p>
          <a:p>
            <a:r>
              <a:rPr lang="en-US" b="1" dirty="0"/>
              <a:t>DE Morgan's Law:</a:t>
            </a:r>
            <a:endParaRPr lang="en-US" dirty="0"/>
          </a:p>
          <a:p>
            <a:pPr lvl="1"/>
            <a:r>
              <a:rPr lang="en-US" dirty="0"/>
              <a:t>¬ (P ∧ Q) = (¬P) ∨ (¬Q)</a:t>
            </a:r>
          </a:p>
          <a:p>
            <a:pPr lvl="1"/>
            <a:r>
              <a:rPr lang="en-US" dirty="0"/>
              <a:t>¬ (P ∨ Q) = (¬ P) ∧ (¬Q).</a:t>
            </a:r>
          </a:p>
          <a:p>
            <a:r>
              <a:rPr lang="en-US" b="1" dirty="0"/>
              <a:t>Double-negation elimination:</a:t>
            </a:r>
            <a:endParaRPr lang="en-US" dirty="0"/>
          </a:p>
          <a:p>
            <a:pPr lvl="1"/>
            <a:r>
              <a:rPr lang="en-US" dirty="0"/>
              <a:t>¬ (¬P) = P.</a:t>
            </a:r>
          </a:p>
        </p:txBody>
      </p:sp>
    </p:spTree>
    <p:extLst>
      <p:ext uri="{BB962C8B-B14F-4D97-AF65-F5344CB8AC3E}">
        <p14:creationId xmlns:p14="http://schemas.microsoft.com/office/powerpoint/2010/main" xmlns="" val="18866213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905000"/>
            <a:ext cx="8153400" cy="3139321"/>
          </a:xfrm>
          <a:prstGeom prst="rect">
            <a:avLst/>
          </a:prstGeom>
        </p:spPr>
        <p:txBody>
          <a:bodyPr wrap="square">
            <a:spAutoFit/>
          </a:bodyPr>
          <a:lstStyle/>
          <a:p>
            <a:r>
              <a:rPr lang="en-US" b="1" dirty="0"/>
              <a:t>Limitations of Propositional logic</a:t>
            </a:r>
            <a:r>
              <a:rPr lang="en-US" b="1" dirty="0" smtClean="0"/>
              <a:t>:</a:t>
            </a:r>
          </a:p>
          <a:p>
            <a:endParaRPr lang="en-US" b="1" dirty="0"/>
          </a:p>
          <a:p>
            <a:r>
              <a:rPr lang="en-US" dirty="0"/>
              <a:t>We cannot represent relations like ALL, some, or none with propositional logic. </a:t>
            </a:r>
            <a:endParaRPr lang="en-US" dirty="0" smtClean="0"/>
          </a:p>
          <a:p>
            <a:r>
              <a:rPr lang="en-US" dirty="0" smtClean="0"/>
              <a:t>Example</a:t>
            </a:r>
            <a:r>
              <a:rPr lang="en-US" dirty="0"/>
              <a:t>:</a:t>
            </a:r>
          </a:p>
          <a:p>
            <a:pPr lvl="1"/>
            <a:r>
              <a:rPr lang="en-US" b="1" dirty="0"/>
              <a:t>All the girls are intelligent.</a:t>
            </a:r>
            <a:endParaRPr lang="en-US" dirty="0"/>
          </a:p>
          <a:p>
            <a:pPr lvl="1"/>
            <a:r>
              <a:rPr lang="en-US" b="1" dirty="0"/>
              <a:t>Some apples are sweet</a:t>
            </a:r>
            <a:r>
              <a:rPr lang="en-US" b="1" dirty="0" smtClean="0"/>
              <a:t>.</a:t>
            </a:r>
          </a:p>
          <a:p>
            <a:pPr lvl="1"/>
            <a:endParaRPr lang="en-US" dirty="0"/>
          </a:p>
          <a:p>
            <a:r>
              <a:rPr lang="en-US" dirty="0"/>
              <a:t>Propositional logic has limited expressive power</a:t>
            </a:r>
            <a:r>
              <a:rPr lang="en-US" dirty="0" smtClean="0"/>
              <a:t>.</a:t>
            </a:r>
          </a:p>
          <a:p>
            <a:endParaRPr lang="en-US" dirty="0"/>
          </a:p>
          <a:p>
            <a:r>
              <a:rPr lang="en-US" dirty="0"/>
              <a:t>In propositional logic, we cannot describe statements in terms of their properties or logical relationships.</a:t>
            </a:r>
          </a:p>
        </p:txBody>
      </p:sp>
    </p:spTree>
    <p:extLst>
      <p:ext uri="{BB962C8B-B14F-4D97-AF65-F5344CB8AC3E}">
        <p14:creationId xmlns:p14="http://schemas.microsoft.com/office/powerpoint/2010/main" xmlns="" val="170181396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3296</TotalTime>
  <Words>758</Words>
  <Application>Microsoft Office PowerPoint</Application>
  <PresentationFormat>On-screen Show (4:3)</PresentationFormat>
  <Paragraphs>112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102963</cp:lastModifiedBy>
  <cp:revision>3</cp:revision>
  <dcterms:created xsi:type="dcterms:W3CDTF">2022-03-29T17:38:10Z</dcterms:created>
  <dcterms:modified xsi:type="dcterms:W3CDTF">2025-03-26T10:51:57Z</dcterms:modified>
</cp:coreProperties>
</file>