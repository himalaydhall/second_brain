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76" r:id="rId14"/>
    <p:sldId id="277" r:id="rId15"/>
    <p:sldId id="278" r:id="rId16"/>
    <p:sldId id="279" r:id="rId17"/>
    <p:sldId id="280" r:id="rId18"/>
    <p:sldId id="282" r:id="rId19"/>
    <p:sldId id="283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812" y="-3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24D7-7A0F-43A0-97ED-02D53D40DBE1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F6D9-FCE9-4E85-81D4-528FD2A5BF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90028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24D7-7A0F-43A0-97ED-02D53D40DBE1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F6D9-FCE9-4E85-81D4-528FD2A5BF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9935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24D7-7A0F-43A0-97ED-02D53D40DBE1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F6D9-FCE9-4E85-81D4-528FD2A5BF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51839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24D7-7A0F-43A0-97ED-02D53D40DBE1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F6D9-FCE9-4E85-81D4-528FD2A5BF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57788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24D7-7A0F-43A0-97ED-02D53D40DBE1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F6D9-FCE9-4E85-81D4-528FD2A5BF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4122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24D7-7A0F-43A0-97ED-02D53D40DBE1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F6D9-FCE9-4E85-81D4-528FD2A5BF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7837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24D7-7A0F-43A0-97ED-02D53D40DBE1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F6D9-FCE9-4E85-81D4-528FD2A5BF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91259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24D7-7A0F-43A0-97ED-02D53D40DBE1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F6D9-FCE9-4E85-81D4-528FD2A5BF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2596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24D7-7A0F-43A0-97ED-02D53D40DBE1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F6D9-FCE9-4E85-81D4-528FD2A5BF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788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24D7-7A0F-43A0-97ED-02D53D40DBE1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F6D9-FCE9-4E85-81D4-528FD2A5BF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1445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24D7-7A0F-43A0-97ED-02D53D40DBE1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F6D9-FCE9-4E85-81D4-528FD2A5BF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24083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324D7-7A0F-43A0-97ED-02D53D40DBE1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0F6D9-FCE9-4E85-81D4-528FD2A5BF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74182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35269" y="290944"/>
            <a:ext cx="57150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The Wumpus World in Artificial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182" y="1447800"/>
            <a:ext cx="88392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Wumpus world is a simple world example to illustrate the worth of a knowledge-based agent and to represent knowledge representation. It was inspired by a video game </a:t>
            </a:r>
            <a:r>
              <a:rPr lang="en-US" b="1" dirty="0"/>
              <a:t>Hunt the Wumpus</a:t>
            </a:r>
            <a:r>
              <a:rPr lang="en-US" dirty="0"/>
              <a:t> by Gregory </a:t>
            </a:r>
            <a:r>
              <a:rPr lang="en-US" dirty="0" err="1"/>
              <a:t>Yob</a:t>
            </a:r>
            <a:r>
              <a:rPr lang="en-US" dirty="0"/>
              <a:t> in 1973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Wumpus world is a cave which has 4/4 rooms connected with passageways. So there are total 16 rooms which are connected with each other. We have a knowledge-based agent who will go forward in this world. The cave has a room with a beast which is called Wumpus, who eats anyone who enters the room. The Wumpus can be shot by the agent, but the agent has a single arrow. In the Wumpus world, there are some Pits rooms which are bottomless, and if agent falls in Pits, then he will be stuck </a:t>
            </a:r>
            <a:r>
              <a:rPr lang="en-US" dirty="0" smtClean="0"/>
              <a:t>there </a:t>
            </a:r>
            <a:r>
              <a:rPr lang="en-US" dirty="0"/>
              <a:t>forever. The exciting thing with this cave is that in one room there is a possibility of finding a heap of gold. </a:t>
            </a: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So </a:t>
            </a:r>
            <a:r>
              <a:rPr lang="en-US" dirty="0"/>
              <a:t>the agent goal is to find the gold and climb out the cave without fallen into Pits or eaten by Wumpus. The agent will get a reward if he comes out with gold, and he will get a penalty if eaten by Wumpus or falls in the pit.</a:t>
            </a:r>
          </a:p>
        </p:txBody>
      </p:sp>
    </p:spTree>
    <p:extLst>
      <p:ext uri="{BB962C8B-B14F-4D97-AF65-F5344CB8AC3E}">
        <p14:creationId xmlns="" xmlns:p14="http://schemas.microsoft.com/office/powerpoint/2010/main" val="311481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sony\Desktop\the-wumpus-world-in-artificial-intelligenc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1"/>
            <a:ext cx="4858108" cy="4419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28600" y="533400"/>
            <a:ext cx="8686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There are also some components which can help the agent to navigate the cave. These components are given as follows: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029200" y="1323109"/>
            <a:ext cx="405938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rooms adjacent to the Wumpus room are smelly, so that it would have some stench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room adjacent to PITs has a breeze, so if the agent reaches near to PIT, then he will perceive the breeze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There will be glitter in the room if and only if the room has gold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Wumpus can be killed by the agent if the agent is facing to it, and Wumpus will emit a horrible scream which can be heard anywhere in the cave.</a:t>
            </a:r>
          </a:p>
        </p:txBody>
      </p:sp>
    </p:spTree>
    <p:extLst>
      <p:ext uri="{BB962C8B-B14F-4D97-AF65-F5344CB8AC3E}">
        <p14:creationId xmlns="" xmlns:p14="http://schemas.microsoft.com/office/powerpoint/2010/main" val="84863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457200"/>
            <a:ext cx="8763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PEAS description of Wumpus world</a:t>
            </a:r>
            <a:r>
              <a:rPr lang="en-US" sz="2000" b="1" dirty="0" smtClean="0"/>
              <a:t>:</a:t>
            </a:r>
          </a:p>
          <a:p>
            <a:endParaRPr lang="en-US" sz="2000" b="1" dirty="0"/>
          </a:p>
          <a:p>
            <a:r>
              <a:rPr lang="en-US" sz="2000" dirty="0"/>
              <a:t>To explain the Wumpus world we have given PEAS description as below</a:t>
            </a:r>
            <a:r>
              <a:rPr lang="en-US" sz="2000" dirty="0" smtClean="0"/>
              <a:t>:</a:t>
            </a:r>
          </a:p>
          <a:p>
            <a:endParaRPr lang="en-US" sz="2000" dirty="0"/>
          </a:p>
          <a:p>
            <a:r>
              <a:rPr lang="en-US" sz="2000" b="1" dirty="0"/>
              <a:t>Performance measure</a:t>
            </a:r>
            <a:r>
              <a:rPr lang="en-US" sz="2000" b="1" dirty="0" smtClean="0"/>
              <a:t>: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+1000 reward points if the agent comes out of the cave with the gold.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-1000 points penalty for being eaten by the Wumpus or falling into the pit.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-1 for each action, and -10 for using an arrow.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game ends if either agent dies or came out of the cave</a:t>
            </a:r>
            <a:r>
              <a:rPr lang="en-US" sz="2000" dirty="0" smtClean="0"/>
              <a:t>.</a:t>
            </a:r>
          </a:p>
          <a:p>
            <a:endParaRPr lang="en-US" sz="2000" b="1" dirty="0"/>
          </a:p>
          <a:p>
            <a:r>
              <a:rPr lang="en-US" sz="2000" b="1" dirty="0"/>
              <a:t>Environment</a:t>
            </a:r>
            <a:r>
              <a:rPr lang="en-US" sz="2000" b="1" dirty="0" smtClean="0"/>
              <a:t>: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4*4 grid of rooms.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agent initially in room square [1, 1], facing toward the right.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Location of Wumpus and gold are chosen randomly except the first square [1,1].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Each square of the cave can be a pit with probability 0.2 except the first square.</a:t>
            </a:r>
          </a:p>
        </p:txBody>
      </p:sp>
    </p:spTree>
    <p:extLst>
      <p:ext uri="{BB962C8B-B14F-4D97-AF65-F5344CB8AC3E}">
        <p14:creationId xmlns="" xmlns:p14="http://schemas.microsoft.com/office/powerpoint/2010/main" val="413441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914400"/>
            <a:ext cx="5410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Actuators</a:t>
            </a:r>
            <a:r>
              <a:rPr lang="en-US" sz="2400" b="1" dirty="0" smtClean="0">
                <a:solidFill>
                  <a:srgbClr val="FF0000"/>
                </a:solidFill>
              </a:rPr>
              <a:t>:</a:t>
            </a:r>
          </a:p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Left turn,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Right turn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Move forward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Grab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Shoot.</a:t>
            </a:r>
          </a:p>
        </p:txBody>
      </p:sp>
    </p:spTree>
    <p:extLst>
      <p:ext uri="{BB962C8B-B14F-4D97-AF65-F5344CB8AC3E}">
        <p14:creationId xmlns="" xmlns:p14="http://schemas.microsoft.com/office/powerpoint/2010/main" val="136644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612845"/>
            <a:ext cx="8686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Sensors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</a:p>
          <a:p>
            <a:pPr algn="just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agent will perceive the </a:t>
            </a:r>
            <a:r>
              <a:rPr lang="en-US" b="1" dirty="0"/>
              <a:t>stench</a:t>
            </a:r>
            <a:r>
              <a:rPr lang="en-US" dirty="0"/>
              <a:t> if he is in the room adjacent to the Wumpus. (Not diagonally</a:t>
            </a:r>
            <a:r>
              <a:rPr lang="en-US" dirty="0" smtClean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agent will perceive </a:t>
            </a:r>
            <a:r>
              <a:rPr lang="en-US" b="1" dirty="0"/>
              <a:t>breeze</a:t>
            </a:r>
            <a:r>
              <a:rPr lang="en-US" dirty="0"/>
              <a:t> if he is in the room directly adjacent to the Pit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agent will perceive the </a:t>
            </a:r>
            <a:r>
              <a:rPr lang="en-US" b="1" dirty="0"/>
              <a:t>glitter</a:t>
            </a:r>
            <a:r>
              <a:rPr lang="en-US" dirty="0"/>
              <a:t> in the room where the gold is present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agent will perceive the </a:t>
            </a:r>
            <a:r>
              <a:rPr lang="en-US" b="1" dirty="0"/>
              <a:t>bump</a:t>
            </a:r>
            <a:r>
              <a:rPr lang="en-US" dirty="0"/>
              <a:t> if he walks into a wall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the Wumpus is shot, it emits a horrible </a:t>
            </a:r>
            <a:r>
              <a:rPr lang="en-US" b="1" dirty="0"/>
              <a:t>scream</a:t>
            </a:r>
            <a:r>
              <a:rPr lang="en-US" dirty="0"/>
              <a:t> which can be perceived anywhere in the cave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/>
            <a:r>
              <a:rPr lang="en-US" dirty="0"/>
              <a:t>These percepts can be represented as five element list, in which we will have </a:t>
            </a:r>
            <a:r>
              <a:rPr lang="en-US" dirty="0" smtClean="0"/>
              <a:t>different indicators </a:t>
            </a:r>
            <a:r>
              <a:rPr lang="en-US" dirty="0"/>
              <a:t>for each sensor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/>
            <a:r>
              <a:rPr lang="en-US" dirty="0"/>
              <a:t>Example if agent perceives stench, breeze, but no glitter, no bump, and no scream then it can be represented as:</a:t>
            </a:r>
            <a:br>
              <a:rPr lang="en-US" dirty="0"/>
            </a:br>
            <a:r>
              <a:rPr lang="en-US" b="1" dirty="0"/>
              <a:t>[Stench, Breeze, None, None, None]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10155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45820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The Wumpus world Properties</a:t>
            </a:r>
            <a:r>
              <a:rPr lang="en-US" sz="2000" b="1" dirty="0" smtClean="0">
                <a:solidFill>
                  <a:srgbClr val="FF0000"/>
                </a:solidFill>
              </a:rPr>
              <a:t>:</a:t>
            </a:r>
          </a:p>
          <a:p>
            <a:endParaRPr lang="en-US" sz="2000" b="1" dirty="0"/>
          </a:p>
          <a:p>
            <a:r>
              <a:rPr lang="en-US" b="1" dirty="0"/>
              <a:t>Partially observable:</a:t>
            </a:r>
            <a:r>
              <a:rPr lang="en-US" dirty="0"/>
              <a:t> The Wumpus world is partially observable because the agent can only perceive the close environment such as an adjacent room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Deterministic:</a:t>
            </a:r>
            <a:r>
              <a:rPr lang="en-US" dirty="0"/>
              <a:t> It is deterministic, as the result and outcome of the world are already known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Sequential:</a:t>
            </a:r>
            <a:r>
              <a:rPr lang="en-US" dirty="0"/>
              <a:t> The order is important, so it is sequential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Static:</a:t>
            </a:r>
            <a:r>
              <a:rPr lang="en-US" dirty="0"/>
              <a:t> It is static as Wumpus and Pits are not moving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Discrete:</a:t>
            </a:r>
            <a:r>
              <a:rPr lang="en-US" dirty="0"/>
              <a:t> The environment is discrete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One agent:</a:t>
            </a:r>
            <a:r>
              <a:rPr lang="en-US" dirty="0"/>
              <a:t> The environment is a single agent as we have one agent only and Wumpus is not considered as an agent.</a:t>
            </a:r>
          </a:p>
        </p:txBody>
      </p:sp>
    </p:spTree>
    <p:extLst>
      <p:ext uri="{BB962C8B-B14F-4D97-AF65-F5344CB8AC3E}">
        <p14:creationId xmlns="" xmlns:p14="http://schemas.microsoft.com/office/powerpoint/2010/main" val="3059855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0" y="152400"/>
            <a:ext cx="3977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Exploring the Wumpus world: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538877"/>
            <a:ext cx="8763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Agent's First step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pPr algn="just"/>
            <a:r>
              <a:rPr lang="en-US" dirty="0"/>
              <a:t>Initially, the agent is in the first room or on the square [1,1], and we already know that this room is safe for the agent, so to represent on the below diagram (a) that room is safe we will add symbol OK. Symbol A is used to represent agent, symbol B for the breeze, G for Glitter or gold, V for the visited room, P for pits, W for Wumpus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At Room [1,1] agent does not feel any breeze or any Stench which means the adjacent squares are also OK.</a:t>
            </a:r>
          </a:p>
        </p:txBody>
      </p:sp>
      <p:pic>
        <p:nvPicPr>
          <p:cNvPr id="1026" name="Picture 2" descr="C:\Users\sony\Desktop\the-wumpus-world-in-artificial-intelligence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834" y="2895600"/>
            <a:ext cx="5698166" cy="38305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030838" y="3200400"/>
            <a:ext cx="6841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/>
              <a:t>Breeze</a:t>
            </a:r>
            <a:endParaRPr lang="en-US" sz="1400" b="1" dirty="0"/>
          </a:p>
        </p:txBody>
      </p:sp>
      <p:sp>
        <p:nvSpPr>
          <p:cNvPr id="6" name="Rectangle 5"/>
          <p:cNvSpPr/>
          <p:nvPr/>
        </p:nvSpPr>
        <p:spPr>
          <a:xfrm>
            <a:off x="5029200" y="3276600"/>
            <a:ext cx="6858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tx1"/>
                </a:solidFill>
              </a:rPr>
              <a:t>Breeze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3895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685800"/>
            <a:ext cx="8763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Agent's second Step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pPr algn="just"/>
            <a:r>
              <a:rPr lang="en-US" dirty="0"/>
              <a:t>Now agent needs to move forward, so it will either move to [1, 2], or [2,1]. Let's suppose agent moves to the room [2, 1], at this room agent perceives some breeze which means Pit is around this room. The pit can be in [3, 1], or [2,2], so we will add symbol P? to say that, is this Pit room</a:t>
            </a:r>
            <a:r>
              <a:rPr lang="en-US" dirty="0" smtClean="0"/>
              <a:t>?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Now agent will stop and think and will not make any harmful move. The agent will go back to the [1, 1] room. The room [1,1], and [2,1] are visited by the agent, so we will use symbol V to represent the visited squares.</a:t>
            </a:r>
          </a:p>
        </p:txBody>
      </p:sp>
    </p:spTree>
    <p:extLst>
      <p:ext uri="{BB962C8B-B14F-4D97-AF65-F5344CB8AC3E}">
        <p14:creationId xmlns="" xmlns:p14="http://schemas.microsoft.com/office/powerpoint/2010/main" val="294655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304800"/>
            <a:ext cx="8839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Agent's third step</a:t>
            </a:r>
            <a:r>
              <a:rPr lang="en-US" b="1" dirty="0" smtClean="0"/>
              <a:t>: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At the third step, now agent will move to the room [1,2] which is OK. In the room [1,2] agent perceives a stench which means there must be a Wumpus nearby. But Wumpus cannot be in the room [1,1] as by rules of the game, and also not in [2,2] (Agent had not detected any stench when he was at [2,1]). Therefore agent infers that Wumpus is in the room [1,3], and in current state, there is no breeze which means in [2,2] there is no Pit and no Wumpus. So it is safe, and we will mark it OK, and the agent moves further in [2,2].</a:t>
            </a:r>
          </a:p>
        </p:txBody>
      </p:sp>
      <p:pic>
        <p:nvPicPr>
          <p:cNvPr id="2050" name="Picture 2" descr="C:\Users\sony\Desktop\the-wumpus-world-in-artificial-intelligence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811" y="2590800"/>
            <a:ext cx="6234389" cy="403478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419600" y="2971800"/>
            <a:ext cx="6858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tx1"/>
                </a:solidFill>
              </a:rPr>
              <a:t>Breeze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6392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6255" y="990600"/>
            <a:ext cx="8839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Agent's fourth step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pPr algn="just"/>
            <a:r>
              <a:rPr lang="en-US" dirty="0"/>
              <a:t>At room [2,2], here no stench and no breezes present so let's suppose agent decides to move to [2,3]. At room [2,3] agent perceives glitter, so it should grab the gold and climb out of the cave.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5439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309492"/>
            <a:ext cx="4747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Knowledge-base for Wumpus world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309" y="990600"/>
            <a:ext cx="8458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As in the previous topic we have learned about the wumpus world and how a knowledge-based agent evolves the world. Now in this topic, we will create a knowledge base for the wumpus world, and will derive some proves for the Wumpus-world using propositional logic.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agent starts visiting from first square [1, 1], and we already know that this room is safe for the agent. To build a knowledge base for wumpus world, we will use some rules and atomic propositions. We need symbol [</a:t>
            </a:r>
            <a:r>
              <a:rPr lang="en-US" dirty="0" err="1"/>
              <a:t>i</a:t>
            </a:r>
            <a:r>
              <a:rPr lang="en-US" dirty="0"/>
              <a:t>, j] for each location in the wumpus world, where </a:t>
            </a:r>
            <a:r>
              <a:rPr lang="en-US" dirty="0" err="1"/>
              <a:t>i</a:t>
            </a:r>
            <a:r>
              <a:rPr lang="en-US" dirty="0"/>
              <a:t> is for the location of rows, and j for column location.</a:t>
            </a:r>
          </a:p>
        </p:txBody>
      </p:sp>
      <p:pic>
        <p:nvPicPr>
          <p:cNvPr id="3074" name="Picture 2" descr="C:\Users\sony\Desktop\ai-knowledge-base-for-wumpus-worl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3465179"/>
            <a:ext cx="3947746" cy="32004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89743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813" y="1252538"/>
            <a:ext cx="8840787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224761"/>
            <a:ext cx="8382000" cy="4718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839" y="1219200"/>
            <a:ext cx="8551423" cy="420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878880"/>
            <a:ext cx="8389854" cy="360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00200"/>
            <a:ext cx="8164513" cy="40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2825" y="349250"/>
            <a:ext cx="7116763" cy="6173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0062" y="1752600"/>
            <a:ext cx="8276738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9888" y="1536700"/>
            <a:ext cx="8402637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7693"/>
            <a:ext cx="76962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Atomic proposition variable for Wumpus world</a:t>
            </a:r>
            <a:r>
              <a:rPr lang="en-US" sz="2400" b="1" dirty="0" smtClean="0"/>
              <a:t>:</a:t>
            </a:r>
          </a:p>
          <a:p>
            <a:endParaRPr lang="en-US" sz="2400" dirty="0"/>
          </a:p>
          <a:p>
            <a:r>
              <a:rPr lang="en-US" sz="2400" dirty="0"/>
              <a:t>Let </a:t>
            </a:r>
            <a:r>
              <a:rPr lang="en-US" sz="2400" b="1" dirty="0" err="1"/>
              <a:t>P</a:t>
            </a:r>
            <a:r>
              <a:rPr lang="en-US" sz="2400" b="1" baseline="-25000" dirty="0" err="1"/>
              <a:t>i,j</a:t>
            </a:r>
            <a:r>
              <a:rPr lang="en-US" sz="2400" dirty="0"/>
              <a:t> be true if there is a Pit in the room [</a:t>
            </a:r>
            <a:r>
              <a:rPr lang="en-US" sz="2400" dirty="0" err="1"/>
              <a:t>i</a:t>
            </a:r>
            <a:r>
              <a:rPr lang="en-US" sz="2400" dirty="0"/>
              <a:t>, j</a:t>
            </a:r>
            <a:r>
              <a:rPr lang="en-US" sz="2400" dirty="0" smtClean="0"/>
              <a:t>].</a:t>
            </a:r>
          </a:p>
          <a:p>
            <a:endParaRPr lang="en-US" sz="2400" dirty="0"/>
          </a:p>
          <a:p>
            <a:r>
              <a:rPr lang="en-US" sz="2400" dirty="0"/>
              <a:t>Let </a:t>
            </a:r>
            <a:r>
              <a:rPr lang="en-US" sz="2400" b="1" dirty="0" err="1"/>
              <a:t>B</a:t>
            </a:r>
            <a:r>
              <a:rPr lang="en-US" sz="2400" b="1" baseline="-25000" dirty="0" err="1"/>
              <a:t>i,j</a:t>
            </a:r>
            <a:r>
              <a:rPr lang="en-US" sz="2400" dirty="0"/>
              <a:t> be true if agent perceives breeze in [</a:t>
            </a:r>
            <a:r>
              <a:rPr lang="en-US" sz="2400" dirty="0" err="1"/>
              <a:t>i</a:t>
            </a:r>
            <a:r>
              <a:rPr lang="en-US" sz="2400" dirty="0"/>
              <a:t>, j], (dead or alive</a:t>
            </a:r>
            <a:r>
              <a:rPr lang="en-US" sz="2400" dirty="0" smtClean="0"/>
              <a:t>).</a:t>
            </a:r>
          </a:p>
          <a:p>
            <a:endParaRPr lang="en-US" sz="2400" dirty="0"/>
          </a:p>
          <a:p>
            <a:r>
              <a:rPr lang="en-US" sz="2400" dirty="0"/>
              <a:t>Let </a:t>
            </a:r>
            <a:r>
              <a:rPr lang="en-US" sz="2400" b="1" dirty="0" err="1"/>
              <a:t>W</a:t>
            </a:r>
            <a:r>
              <a:rPr lang="en-US" sz="2400" b="1" baseline="-25000" dirty="0" err="1"/>
              <a:t>i,j</a:t>
            </a:r>
            <a:r>
              <a:rPr lang="en-US" sz="2400" dirty="0"/>
              <a:t> be true if there is wumpus in the square[</a:t>
            </a:r>
            <a:r>
              <a:rPr lang="en-US" sz="2400" dirty="0" err="1"/>
              <a:t>i</a:t>
            </a:r>
            <a:r>
              <a:rPr lang="en-US" sz="2400" dirty="0"/>
              <a:t>, j</a:t>
            </a:r>
            <a:r>
              <a:rPr lang="en-US" sz="2400" dirty="0" smtClean="0"/>
              <a:t>].</a:t>
            </a:r>
          </a:p>
          <a:p>
            <a:endParaRPr lang="en-US" sz="2400" dirty="0"/>
          </a:p>
          <a:p>
            <a:r>
              <a:rPr lang="en-US" sz="2400" dirty="0"/>
              <a:t>Let </a:t>
            </a:r>
            <a:r>
              <a:rPr lang="en-US" sz="2400" b="1" dirty="0" err="1"/>
              <a:t>S</a:t>
            </a:r>
            <a:r>
              <a:rPr lang="en-US" sz="2400" b="1" baseline="-25000" dirty="0" err="1"/>
              <a:t>i,j</a:t>
            </a:r>
            <a:r>
              <a:rPr lang="en-US" sz="2400" dirty="0"/>
              <a:t> be true if agent perceives stench in the square [</a:t>
            </a:r>
            <a:r>
              <a:rPr lang="en-US" sz="2400" dirty="0" err="1"/>
              <a:t>i</a:t>
            </a:r>
            <a:r>
              <a:rPr lang="en-US" sz="2400" dirty="0"/>
              <a:t>, j</a:t>
            </a:r>
            <a:r>
              <a:rPr lang="en-US" sz="2400" dirty="0" smtClean="0"/>
              <a:t>].</a:t>
            </a:r>
          </a:p>
          <a:p>
            <a:endParaRPr lang="en-US" sz="2400" dirty="0"/>
          </a:p>
          <a:p>
            <a:r>
              <a:rPr lang="en-US" sz="2400" dirty="0"/>
              <a:t>Let </a:t>
            </a:r>
            <a:r>
              <a:rPr lang="en-US" sz="2400" b="1" dirty="0" err="1"/>
              <a:t>V</a:t>
            </a:r>
            <a:r>
              <a:rPr lang="en-US" sz="2400" b="1" baseline="-25000" dirty="0" err="1"/>
              <a:t>i,j</a:t>
            </a:r>
            <a:r>
              <a:rPr lang="en-US" sz="2400" dirty="0"/>
              <a:t> be true if that square[</a:t>
            </a:r>
            <a:r>
              <a:rPr lang="en-US" sz="2400" dirty="0" err="1"/>
              <a:t>i</a:t>
            </a:r>
            <a:r>
              <a:rPr lang="en-US" sz="2400" dirty="0"/>
              <a:t>, j] is visited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Let </a:t>
            </a:r>
            <a:r>
              <a:rPr lang="en-US" sz="2400" b="1" dirty="0" err="1"/>
              <a:t>G</a:t>
            </a:r>
            <a:r>
              <a:rPr lang="en-US" sz="2400" b="1" baseline="-25000" dirty="0" err="1"/>
              <a:t>i,j</a:t>
            </a:r>
            <a:r>
              <a:rPr lang="en-US" sz="2400" dirty="0"/>
              <a:t> be true if there is gold (and glitter) in the square [</a:t>
            </a:r>
            <a:r>
              <a:rPr lang="en-US" sz="2400" dirty="0" err="1"/>
              <a:t>i</a:t>
            </a:r>
            <a:r>
              <a:rPr lang="en-US" sz="2400" dirty="0"/>
              <a:t>, j</a:t>
            </a:r>
            <a:r>
              <a:rPr lang="en-US" sz="2400" dirty="0" smtClean="0"/>
              <a:t>].</a:t>
            </a:r>
          </a:p>
          <a:p>
            <a:endParaRPr lang="en-US" sz="2400" dirty="0"/>
          </a:p>
          <a:p>
            <a:r>
              <a:rPr lang="en-US" sz="2400" dirty="0"/>
              <a:t>Let </a:t>
            </a:r>
            <a:r>
              <a:rPr lang="en-US" sz="2400" b="1" dirty="0" err="1"/>
              <a:t>OK</a:t>
            </a:r>
            <a:r>
              <a:rPr lang="en-US" sz="2400" b="1" baseline="-25000" dirty="0" err="1"/>
              <a:t>i,j</a:t>
            </a:r>
            <a:r>
              <a:rPr lang="en-US" sz="2400" dirty="0"/>
              <a:t> be true if the room is safe.</a:t>
            </a:r>
          </a:p>
        </p:txBody>
      </p:sp>
    </p:spTree>
    <p:extLst>
      <p:ext uri="{BB962C8B-B14F-4D97-AF65-F5344CB8AC3E}">
        <p14:creationId xmlns="" xmlns:p14="http://schemas.microsoft.com/office/powerpoint/2010/main" val="3691629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381000"/>
            <a:ext cx="6629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Some Propositional Rules for the wumpus world:</a:t>
            </a:r>
          </a:p>
        </p:txBody>
      </p:sp>
      <p:pic>
        <p:nvPicPr>
          <p:cNvPr id="4098" name="Picture 2" descr="C:\Users\sony\Desktop\ai-knowledge-base-for-wumpus-world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124200"/>
            <a:ext cx="3657600" cy="172551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sony\Desktop\ai-knowledge-base-for-wumpus-worl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514600"/>
            <a:ext cx="3947746" cy="32004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55056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9225" y="281785"/>
            <a:ext cx="79016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Representation of Knowledgebase for Wumpus world</a:t>
            </a:r>
          </a:p>
        </p:txBody>
      </p:sp>
      <p:sp>
        <p:nvSpPr>
          <p:cNvPr id="3" name="Rectangle 2"/>
          <p:cNvSpPr/>
          <p:nvPr/>
        </p:nvSpPr>
        <p:spPr>
          <a:xfrm>
            <a:off x="214745" y="1219200"/>
            <a:ext cx="8610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Simple KB for wumpus world when an agent moves from room [1, 1], to room [2,1]: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122" name="Picture 2" descr="C:\Users\sony\Desktop\ai-knowledge-base-for-wumpus-world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51" y="1929678"/>
            <a:ext cx="8134787" cy="11011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14746" y="3276600"/>
            <a:ext cx="83726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/>
              <a:t>Here in the first row, we have mentioned propositional variables for room[1,1], which is showing that room does not have wumpus(¬ W</a:t>
            </a:r>
            <a:r>
              <a:rPr lang="en-US" baseline="-25000" dirty="0"/>
              <a:t>11</a:t>
            </a:r>
            <a:r>
              <a:rPr lang="en-US" dirty="0"/>
              <a:t>), no stench (</a:t>
            </a:r>
            <a:r>
              <a:rPr lang="en-US" b="1" dirty="0"/>
              <a:t>¬S</a:t>
            </a:r>
            <a:r>
              <a:rPr lang="en-US" b="1" baseline="-25000" dirty="0"/>
              <a:t>11</a:t>
            </a:r>
            <a:r>
              <a:rPr lang="en-US" dirty="0"/>
              <a:t>), no Pit(</a:t>
            </a:r>
            <a:r>
              <a:rPr lang="en-US" b="1" dirty="0"/>
              <a:t>¬P</a:t>
            </a:r>
            <a:r>
              <a:rPr lang="en-US" b="1" baseline="-25000" dirty="0"/>
              <a:t>11</a:t>
            </a:r>
            <a:r>
              <a:rPr lang="en-US" dirty="0"/>
              <a:t>), no breeze(</a:t>
            </a:r>
            <a:r>
              <a:rPr lang="en-US" b="1" dirty="0"/>
              <a:t>¬B</a:t>
            </a:r>
            <a:r>
              <a:rPr lang="en-US" b="1" baseline="-25000" dirty="0"/>
              <a:t>11</a:t>
            </a:r>
            <a:r>
              <a:rPr lang="en-US" dirty="0"/>
              <a:t>), no gold (</a:t>
            </a:r>
            <a:r>
              <a:rPr lang="en-US" b="1" dirty="0"/>
              <a:t>¬G</a:t>
            </a:r>
            <a:r>
              <a:rPr lang="en-US" b="1" baseline="-25000" dirty="0"/>
              <a:t>11</a:t>
            </a:r>
            <a:r>
              <a:rPr lang="en-US" dirty="0"/>
              <a:t>), visited (</a:t>
            </a:r>
            <a:r>
              <a:rPr lang="en-US" b="1" dirty="0"/>
              <a:t>V</a:t>
            </a:r>
            <a:r>
              <a:rPr lang="en-US" b="1" baseline="-25000" dirty="0"/>
              <a:t>11</a:t>
            </a:r>
            <a:r>
              <a:rPr lang="en-US" dirty="0"/>
              <a:t>), and the room is Safe(</a:t>
            </a:r>
            <a:r>
              <a:rPr lang="en-US" b="1" dirty="0"/>
              <a:t>OK</a:t>
            </a:r>
            <a:r>
              <a:rPr lang="en-US" b="1" baseline="-25000" dirty="0"/>
              <a:t>11</a:t>
            </a:r>
            <a:r>
              <a:rPr lang="en-US" dirty="0" smtClean="0"/>
              <a:t>).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In the second row, we have mentioned propositional variables for room [1,2], which is showing that there is no wumpus, stench and breeze are unknown as an agent has not visited room [1,2], no Pit, not visited yet, and the room is safe.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In the third row we have mentioned propositional variable for room[2,1], which is showing that there is no wumpus(¬ W21), no stench (</a:t>
            </a:r>
            <a:r>
              <a:rPr lang="en-US" b="1" dirty="0"/>
              <a:t>¬S</a:t>
            </a:r>
            <a:r>
              <a:rPr lang="en-US" b="1" baseline="-25000" dirty="0"/>
              <a:t>21</a:t>
            </a:r>
            <a:r>
              <a:rPr lang="en-US" dirty="0"/>
              <a:t>), no Pit (</a:t>
            </a:r>
            <a:r>
              <a:rPr lang="en-US" b="1" dirty="0"/>
              <a:t>¬P</a:t>
            </a:r>
            <a:r>
              <a:rPr lang="en-US" b="1" baseline="-25000" dirty="0"/>
              <a:t>21</a:t>
            </a:r>
            <a:r>
              <a:rPr lang="en-US" dirty="0"/>
              <a:t>), Perceives breeze(</a:t>
            </a:r>
            <a:r>
              <a:rPr lang="en-US" b="1" dirty="0"/>
              <a:t>B</a:t>
            </a:r>
            <a:r>
              <a:rPr lang="en-US" b="1" baseline="-25000" dirty="0"/>
              <a:t>21</a:t>
            </a:r>
            <a:r>
              <a:rPr lang="en-US" dirty="0"/>
              <a:t>), no glitter(</a:t>
            </a:r>
            <a:r>
              <a:rPr lang="en-US" b="1" dirty="0"/>
              <a:t>¬G</a:t>
            </a:r>
            <a:r>
              <a:rPr lang="en-US" b="1" baseline="-25000" dirty="0"/>
              <a:t>21</a:t>
            </a:r>
            <a:r>
              <a:rPr lang="en-US" dirty="0"/>
              <a:t>), visited (</a:t>
            </a:r>
            <a:r>
              <a:rPr lang="en-US" b="1" dirty="0"/>
              <a:t>V</a:t>
            </a:r>
            <a:r>
              <a:rPr lang="en-US" b="1" baseline="-25000" dirty="0"/>
              <a:t>21</a:t>
            </a:r>
            <a:r>
              <a:rPr lang="en-US" dirty="0"/>
              <a:t>), and room is safe (</a:t>
            </a:r>
            <a:r>
              <a:rPr lang="en-US" b="1" dirty="0"/>
              <a:t>OK</a:t>
            </a:r>
            <a:r>
              <a:rPr lang="en-US" b="1" baseline="-25000" dirty="0"/>
              <a:t>21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4902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609600"/>
            <a:ext cx="52724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Prove that Wumpus is in the room (1,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066800"/>
            <a:ext cx="8763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We can prove that wumpus is in the room (1, 3) using propositional rules which we have derived for the wumpus world and using inference rule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Apply Modus Ponens with ¬S11 and R1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r>
              <a:rPr lang="en-US" dirty="0"/>
              <a:t>We will firstly apply MP rule with R1 which is ¬S</a:t>
            </a:r>
            <a:r>
              <a:rPr lang="en-US" baseline="-25000" dirty="0"/>
              <a:t>11</a:t>
            </a:r>
            <a:r>
              <a:rPr lang="en-US" dirty="0"/>
              <a:t> → ¬ W</a:t>
            </a:r>
            <a:r>
              <a:rPr lang="en-US" baseline="-25000" dirty="0"/>
              <a:t>11</a:t>
            </a:r>
            <a:r>
              <a:rPr lang="en-US" dirty="0"/>
              <a:t> ^ ¬ W</a:t>
            </a:r>
            <a:r>
              <a:rPr lang="en-US" baseline="-25000" dirty="0"/>
              <a:t>12</a:t>
            </a:r>
            <a:r>
              <a:rPr lang="en-US" dirty="0"/>
              <a:t> ^ ¬ W</a:t>
            </a:r>
            <a:r>
              <a:rPr lang="en-US" baseline="-25000" dirty="0"/>
              <a:t>21</a:t>
            </a:r>
            <a:r>
              <a:rPr lang="en-US" dirty="0"/>
              <a:t>, and </a:t>
            </a:r>
            <a:r>
              <a:rPr lang="en-US" b="1" dirty="0"/>
              <a:t>¬S</a:t>
            </a:r>
            <a:r>
              <a:rPr lang="en-US" b="1" baseline="-25000" dirty="0"/>
              <a:t>11</a:t>
            </a:r>
            <a:r>
              <a:rPr lang="en-US" dirty="0"/>
              <a:t> which will give the output ¬ W</a:t>
            </a:r>
            <a:r>
              <a:rPr lang="en-US" baseline="-25000" dirty="0"/>
              <a:t>11</a:t>
            </a:r>
            <a:r>
              <a:rPr lang="en-US" dirty="0"/>
              <a:t> ^ W</a:t>
            </a:r>
            <a:r>
              <a:rPr lang="en-US" baseline="-25000" dirty="0"/>
              <a:t>12</a:t>
            </a:r>
            <a:r>
              <a:rPr lang="en-US" dirty="0"/>
              <a:t> ^ W</a:t>
            </a:r>
            <a:r>
              <a:rPr lang="en-US" baseline="-25000" dirty="0"/>
              <a:t>12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1026" name="Picture 2" descr="C:\Users\sony\Desktop\ai-knowledge-base-for-wumpus-world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657600"/>
            <a:ext cx="4114800" cy="15144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81000" y="5257800"/>
            <a:ext cx="8458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Apply And-Elimination Rule:</a:t>
            </a:r>
          </a:p>
          <a:p>
            <a:endParaRPr lang="en-US" dirty="0" smtClean="0"/>
          </a:p>
          <a:p>
            <a:r>
              <a:rPr lang="en-US" dirty="0" smtClean="0"/>
              <a:t>After applying And-elimination rule to ¬ W</a:t>
            </a:r>
            <a:r>
              <a:rPr lang="en-US" baseline="-25000" dirty="0" smtClean="0"/>
              <a:t>11</a:t>
            </a:r>
            <a:r>
              <a:rPr lang="en-US" dirty="0" smtClean="0"/>
              <a:t> ∧ ¬ W</a:t>
            </a:r>
            <a:r>
              <a:rPr lang="en-US" baseline="-25000" dirty="0" smtClean="0"/>
              <a:t>12</a:t>
            </a:r>
            <a:r>
              <a:rPr lang="en-US" dirty="0" smtClean="0"/>
              <a:t> ∧ ¬ W</a:t>
            </a:r>
            <a:r>
              <a:rPr lang="en-US" baseline="-25000" dirty="0" smtClean="0"/>
              <a:t>21</a:t>
            </a:r>
            <a:r>
              <a:rPr lang="en-US" dirty="0" smtClean="0"/>
              <a:t>, we will get three statements:</a:t>
            </a:r>
            <a:br>
              <a:rPr lang="en-US" dirty="0" smtClean="0"/>
            </a:br>
            <a:r>
              <a:rPr lang="en-US" b="1" dirty="0" smtClean="0"/>
              <a:t>¬ W</a:t>
            </a:r>
            <a:r>
              <a:rPr lang="en-US" b="1" baseline="-25000" dirty="0" smtClean="0"/>
              <a:t>11</a:t>
            </a:r>
            <a:r>
              <a:rPr lang="en-US" b="1" dirty="0" smtClean="0"/>
              <a:t>, ¬ W</a:t>
            </a:r>
            <a:r>
              <a:rPr lang="en-US" b="1" baseline="-25000" dirty="0" smtClean="0"/>
              <a:t>12</a:t>
            </a:r>
            <a:r>
              <a:rPr lang="en-US" b="1" dirty="0" smtClean="0"/>
              <a:t>, and ¬W</a:t>
            </a:r>
            <a:r>
              <a:rPr lang="en-US" b="1" baseline="-25000" dirty="0" smtClean="0"/>
              <a:t>21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0787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990600"/>
            <a:ext cx="868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Apply Modus Ponens to ¬S</a:t>
            </a:r>
            <a:r>
              <a:rPr lang="en-US" b="1" baseline="-25000" dirty="0"/>
              <a:t>21</a:t>
            </a:r>
            <a:r>
              <a:rPr lang="en-US" b="1" dirty="0"/>
              <a:t>, and R2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r>
              <a:rPr lang="en-US" dirty="0"/>
              <a:t>Now we will apply Modus Ponens to ¬S</a:t>
            </a:r>
            <a:r>
              <a:rPr lang="en-US" baseline="-25000" dirty="0"/>
              <a:t>21</a:t>
            </a:r>
            <a:r>
              <a:rPr lang="en-US" dirty="0"/>
              <a:t> and R2 which is ¬S</a:t>
            </a:r>
            <a:r>
              <a:rPr lang="en-US" baseline="-25000" dirty="0"/>
              <a:t>21</a:t>
            </a:r>
            <a:r>
              <a:rPr lang="en-US" dirty="0"/>
              <a:t> → ¬ W</a:t>
            </a:r>
            <a:r>
              <a:rPr lang="en-US" baseline="-25000" dirty="0"/>
              <a:t>21</a:t>
            </a:r>
            <a:r>
              <a:rPr lang="en-US" dirty="0"/>
              <a:t> ∧¬ W</a:t>
            </a:r>
            <a:r>
              <a:rPr lang="en-US" baseline="-25000" dirty="0"/>
              <a:t>22</a:t>
            </a:r>
            <a:r>
              <a:rPr lang="en-US" dirty="0"/>
              <a:t> ∧ ¬ W</a:t>
            </a:r>
            <a:r>
              <a:rPr lang="en-US" baseline="-25000" dirty="0"/>
              <a:t>31</a:t>
            </a:r>
            <a:r>
              <a:rPr lang="en-US" dirty="0"/>
              <a:t>, which will give the Output as </a:t>
            </a:r>
            <a:r>
              <a:rPr lang="en-US" b="1" dirty="0"/>
              <a:t>¬ W</a:t>
            </a:r>
            <a:r>
              <a:rPr lang="en-US" b="1" baseline="-25000" dirty="0"/>
              <a:t>21</a:t>
            </a:r>
            <a:r>
              <a:rPr lang="en-US" b="1" dirty="0"/>
              <a:t> ∧ ¬ W</a:t>
            </a:r>
            <a:r>
              <a:rPr lang="en-US" b="1" baseline="-25000" dirty="0"/>
              <a:t>22</a:t>
            </a:r>
            <a:r>
              <a:rPr lang="en-US" b="1" dirty="0"/>
              <a:t> ∧¬ W</a:t>
            </a:r>
            <a:r>
              <a:rPr lang="en-US" b="1" baseline="-25000" dirty="0"/>
              <a:t>31</a:t>
            </a:r>
            <a:endParaRPr lang="en-US" dirty="0"/>
          </a:p>
        </p:txBody>
      </p:sp>
      <p:pic>
        <p:nvPicPr>
          <p:cNvPr id="2050" name="Picture 2" descr="C:\Users\sony\Desktop\ai-knowledge-base-for-wumpus-world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590800"/>
            <a:ext cx="4352636" cy="1524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04800" y="4495800"/>
            <a:ext cx="8534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Apply And -Elimination rule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r>
              <a:rPr lang="en-US" dirty="0"/>
              <a:t>Now again apply And-elimination rule to </a:t>
            </a:r>
            <a:r>
              <a:rPr lang="en-US" b="1" dirty="0"/>
              <a:t>¬ W</a:t>
            </a:r>
            <a:r>
              <a:rPr lang="en-US" b="1" baseline="-25000" dirty="0"/>
              <a:t>21</a:t>
            </a:r>
            <a:r>
              <a:rPr lang="en-US" b="1" dirty="0"/>
              <a:t> ∧ ¬ W</a:t>
            </a:r>
            <a:r>
              <a:rPr lang="en-US" b="1" baseline="-25000" dirty="0"/>
              <a:t>22</a:t>
            </a:r>
            <a:r>
              <a:rPr lang="en-US" b="1" dirty="0"/>
              <a:t> ∧¬ W</a:t>
            </a:r>
            <a:r>
              <a:rPr lang="en-US" b="1" baseline="-25000" dirty="0"/>
              <a:t>31</a:t>
            </a:r>
            <a:r>
              <a:rPr lang="en-US" dirty="0"/>
              <a:t>, We will get three statements:</a:t>
            </a:r>
            <a:br>
              <a:rPr lang="en-US" dirty="0"/>
            </a:br>
            <a:r>
              <a:rPr lang="en-US" b="1" dirty="0"/>
              <a:t>¬ W</a:t>
            </a:r>
            <a:r>
              <a:rPr lang="en-US" b="1" baseline="-25000" dirty="0"/>
              <a:t>21</a:t>
            </a:r>
            <a:r>
              <a:rPr lang="en-US" b="1" dirty="0"/>
              <a:t>, ¬ W</a:t>
            </a:r>
            <a:r>
              <a:rPr lang="en-US" b="1" baseline="-25000" dirty="0"/>
              <a:t>22</a:t>
            </a:r>
            <a:r>
              <a:rPr lang="en-US" b="1" dirty="0"/>
              <a:t>, and ¬ W</a:t>
            </a:r>
            <a:r>
              <a:rPr lang="en-US" b="1" baseline="-25000" dirty="0"/>
              <a:t>31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76259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481838"/>
            <a:ext cx="8534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Apply MP to S</a:t>
            </a:r>
            <a:r>
              <a:rPr lang="en-US" b="1" baseline="-25000" dirty="0"/>
              <a:t>12</a:t>
            </a:r>
            <a:r>
              <a:rPr lang="en-US" b="1" dirty="0"/>
              <a:t> and R4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r>
              <a:rPr lang="en-US" dirty="0"/>
              <a:t>Apply Modus Ponens to </a:t>
            </a:r>
            <a:r>
              <a:rPr lang="en-US" b="1" dirty="0"/>
              <a:t>S</a:t>
            </a:r>
            <a:r>
              <a:rPr lang="en-US" b="1" baseline="-25000" dirty="0"/>
              <a:t>12</a:t>
            </a:r>
            <a:r>
              <a:rPr lang="en-US" dirty="0"/>
              <a:t> and </a:t>
            </a:r>
            <a:r>
              <a:rPr lang="en-US" b="1" dirty="0"/>
              <a:t>R</a:t>
            </a:r>
            <a:r>
              <a:rPr lang="en-US" b="1" baseline="-25000" dirty="0"/>
              <a:t>4</a:t>
            </a:r>
            <a:r>
              <a:rPr lang="en-US" dirty="0"/>
              <a:t> which is </a:t>
            </a:r>
            <a:r>
              <a:rPr lang="en-US" b="1" dirty="0"/>
              <a:t>S</a:t>
            </a:r>
            <a:r>
              <a:rPr lang="en-US" b="1" baseline="-25000" dirty="0"/>
              <a:t>12</a:t>
            </a:r>
            <a:r>
              <a:rPr lang="en-US" b="1" dirty="0"/>
              <a:t> → W</a:t>
            </a:r>
            <a:r>
              <a:rPr lang="en-US" b="1" baseline="-25000" dirty="0"/>
              <a:t>13</a:t>
            </a:r>
            <a:r>
              <a:rPr lang="en-US" b="1" dirty="0"/>
              <a:t> ∨. W</a:t>
            </a:r>
            <a:r>
              <a:rPr lang="en-US" b="1" baseline="-25000" dirty="0"/>
              <a:t>12</a:t>
            </a:r>
            <a:r>
              <a:rPr lang="en-US" b="1" dirty="0"/>
              <a:t> ∨. W</a:t>
            </a:r>
            <a:r>
              <a:rPr lang="en-US" b="1" baseline="-25000" dirty="0"/>
              <a:t>22</a:t>
            </a:r>
            <a:r>
              <a:rPr lang="en-US" b="1" dirty="0"/>
              <a:t> ∨.W</a:t>
            </a:r>
            <a:r>
              <a:rPr lang="en-US" b="1" baseline="-25000" dirty="0"/>
              <a:t>11</a:t>
            </a:r>
            <a:r>
              <a:rPr lang="en-US" dirty="0"/>
              <a:t>, we will get the output as </a:t>
            </a:r>
            <a:r>
              <a:rPr lang="en-US" b="1" dirty="0"/>
              <a:t>W</a:t>
            </a:r>
            <a:r>
              <a:rPr lang="en-US" b="1" baseline="-25000" dirty="0"/>
              <a:t>13</a:t>
            </a:r>
            <a:r>
              <a:rPr lang="en-US" b="1" dirty="0"/>
              <a:t>∨ W</a:t>
            </a:r>
            <a:r>
              <a:rPr lang="en-US" b="1" baseline="-25000" dirty="0"/>
              <a:t>12</a:t>
            </a:r>
            <a:r>
              <a:rPr lang="en-US" b="1" dirty="0"/>
              <a:t> ∨ W</a:t>
            </a:r>
            <a:r>
              <a:rPr lang="en-US" b="1" baseline="-25000" dirty="0"/>
              <a:t>22</a:t>
            </a:r>
            <a:r>
              <a:rPr lang="en-US" b="1" dirty="0"/>
              <a:t> ∨.W</a:t>
            </a:r>
            <a:r>
              <a:rPr lang="en-US" b="1" baseline="-25000" dirty="0"/>
              <a:t>11</a:t>
            </a:r>
            <a:r>
              <a:rPr lang="en-US" dirty="0"/>
              <a:t>.</a:t>
            </a:r>
          </a:p>
        </p:txBody>
      </p:sp>
      <p:pic>
        <p:nvPicPr>
          <p:cNvPr id="3074" name="Picture 2" descr="C:\Users\sony\Desktop\ai-knowledge-base-for-wumpus-world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9" y="3810000"/>
            <a:ext cx="5091981" cy="1905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457154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736" y="838200"/>
            <a:ext cx="88426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Apply Unit resolution on W</a:t>
            </a:r>
            <a:r>
              <a:rPr lang="en-US" b="1" baseline="-25000" dirty="0"/>
              <a:t>13</a:t>
            </a:r>
            <a:r>
              <a:rPr lang="en-US" b="1" dirty="0"/>
              <a:t> ∨ W</a:t>
            </a:r>
            <a:r>
              <a:rPr lang="en-US" b="1" baseline="-25000" dirty="0"/>
              <a:t>12</a:t>
            </a:r>
            <a:r>
              <a:rPr lang="en-US" b="1" dirty="0"/>
              <a:t> ∨ W</a:t>
            </a:r>
            <a:r>
              <a:rPr lang="en-US" b="1" baseline="-25000" dirty="0"/>
              <a:t>22</a:t>
            </a:r>
            <a:r>
              <a:rPr lang="en-US" b="1" dirty="0"/>
              <a:t> ∨W</a:t>
            </a:r>
            <a:r>
              <a:rPr lang="en-US" b="1" baseline="-25000" dirty="0"/>
              <a:t>11</a:t>
            </a:r>
            <a:r>
              <a:rPr lang="en-US" b="1" dirty="0"/>
              <a:t> and ¬ W</a:t>
            </a:r>
            <a:r>
              <a:rPr lang="en-US" b="1" baseline="-25000" dirty="0"/>
              <a:t>11</a:t>
            </a:r>
            <a:r>
              <a:rPr lang="en-US" b="1" dirty="0"/>
              <a:t> :</a:t>
            </a:r>
            <a:endParaRPr lang="en-US" dirty="0"/>
          </a:p>
          <a:p>
            <a:r>
              <a:rPr lang="en-US" dirty="0"/>
              <a:t>After applying Unit resolution formula on W</a:t>
            </a:r>
            <a:r>
              <a:rPr lang="en-US" baseline="-25000" dirty="0"/>
              <a:t>13</a:t>
            </a:r>
            <a:r>
              <a:rPr lang="en-US" dirty="0"/>
              <a:t> ∨ W</a:t>
            </a:r>
            <a:r>
              <a:rPr lang="en-US" baseline="-25000" dirty="0"/>
              <a:t>12</a:t>
            </a:r>
            <a:r>
              <a:rPr lang="en-US" dirty="0"/>
              <a:t> ∨ W</a:t>
            </a:r>
            <a:r>
              <a:rPr lang="en-US" baseline="-25000" dirty="0"/>
              <a:t>22</a:t>
            </a:r>
            <a:r>
              <a:rPr lang="en-US" dirty="0"/>
              <a:t> ∨W</a:t>
            </a:r>
            <a:r>
              <a:rPr lang="en-US" baseline="-25000" dirty="0"/>
              <a:t>11</a:t>
            </a:r>
            <a:r>
              <a:rPr lang="en-US" dirty="0"/>
              <a:t> and ¬ W</a:t>
            </a:r>
            <a:r>
              <a:rPr lang="en-US" baseline="-25000" dirty="0"/>
              <a:t>11</a:t>
            </a:r>
            <a:r>
              <a:rPr lang="en-US" dirty="0"/>
              <a:t> we will get W</a:t>
            </a:r>
            <a:r>
              <a:rPr lang="en-US" baseline="-25000" dirty="0"/>
              <a:t>13</a:t>
            </a:r>
            <a:r>
              <a:rPr lang="en-US" dirty="0"/>
              <a:t> ∨ W</a:t>
            </a:r>
            <a:r>
              <a:rPr lang="en-US" baseline="-25000" dirty="0"/>
              <a:t>12</a:t>
            </a:r>
            <a:r>
              <a:rPr lang="en-US" dirty="0"/>
              <a:t> ∨ W</a:t>
            </a:r>
            <a:r>
              <a:rPr lang="en-US" baseline="-25000" dirty="0"/>
              <a:t>22</a:t>
            </a:r>
            <a:r>
              <a:rPr lang="en-US" dirty="0"/>
              <a:t>.</a:t>
            </a:r>
          </a:p>
        </p:txBody>
      </p:sp>
      <p:pic>
        <p:nvPicPr>
          <p:cNvPr id="4098" name="Picture 2" descr="C:\Users\sony\Desktop\ai-knowledge-base-for-wumpus-world7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997075"/>
            <a:ext cx="3962400" cy="170755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2736" y="4167664"/>
            <a:ext cx="88426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Apply Unit resolution on W</a:t>
            </a:r>
            <a:r>
              <a:rPr lang="en-US" b="1" baseline="-25000" dirty="0"/>
              <a:t>13</a:t>
            </a:r>
            <a:r>
              <a:rPr lang="en-US" b="1" dirty="0"/>
              <a:t> ∨ W</a:t>
            </a:r>
            <a:r>
              <a:rPr lang="en-US" b="1" baseline="-25000" dirty="0"/>
              <a:t>12</a:t>
            </a:r>
            <a:r>
              <a:rPr lang="en-US" b="1" dirty="0"/>
              <a:t> ∨ W</a:t>
            </a:r>
            <a:r>
              <a:rPr lang="en-US" b="1" baseline="-25000" dirty="0"/>
              <a:t>22</a:t>
            </a:r>
            <a:r>
              <a:rPr lang="en-US" b="1" dirty="0"/>
              <a:t> and ¬ W</a:t>
            </a:r>
            <a:r>
              <a:rPr lang="en-US" b="1" baseline="-25000" dirty="0"/>
              <a:t>22</a:t>
            </a:r>
            <a:r>
              <a:rPr lang="en-US" b="1" dirty="0"/>
              <a:t> :</a:t>
            </a:r>
            <a:endParaRPr lang="en-US" dirty="0"/>
          </a:p>
          <a:p>
            <a:r>
              <a:rPr lang="en-US" dirty="0"/>
              <a:t>After applying Unit resolution on </a:t>
            </a:r>
            <a:r>
              <a:rPr lang="en-US" b="1" dirty="0"/>
              <a:t>W</a:t>
            </a:r>
            <a:r>
              <a:rPr lang="en-US" b="1" baseline="-25000" dirty="0"/>
              <a:t>13</a:t>
            </a:r>
            <a:r>
              <a:rPr lang="en-US" b="1" dirty="0"/>
              <a:t> ∨ W</a:t>
            </a:r>
            <a:r>
              <a:rPr lang="en-US" b="1" baseline="-25000" dirty="0"/>
              <a:t>12</a:t>
            </a:r>
            <a:r>
              <a:rPr lang="en-US" b="1" dirty="0"/>
              <a:t> ∨ W</a:t>
            </a:r>
            <a:r>
              <a:rPr lang="en-US" b="1" baseline="-25000" dirty="0"/>
              <a:t>22</a:t>
            </a:r>
            <a:r>
              <a:rPr lang="en-US" dirty="0"/>
              <a:t>, and </a:t>
            </a:r>
            <a:r>
              <a:rPr lang="en-US" b="1" dirty="0"/>
              <a:t>¬W</a:t>
            </a:r>
            <a:r>
              <a:rPr lang="en-US" b="1" baseline="-25000" dirty="0"/>
              <a:t>22</a:t>
            </a:r>
            <a:r>
              <a:rPr lang="en-US" dirty="0"/>
              <a:t>, we will get </a:t>
            </a:r>
            <a:r>
              <a:rPr lang="en-US" b="1" dirty="0"/>
              <a:t>W</a:t>
            </a:r>
            <a:r>
              <a:rPr lang="en-US" b="1" baseline="-25000" dirty="0"/>
              <a:t>13</a:t>
            </a:r>
            <a:r>
              <a:rPr lang="en-US" b="1" dirty="0"/>
              <a:t> ∨ W</a:t>
            </a:r>
            <a:r>
              <a:rPr lang="en-US" b="1" baseline="-25000" dirty="0"/>
              <a:t>12</a:t>
            </a:r>
            <a:r>
              <a:rPr lang="en-US" dirty="0"/>
              <a:t> as output.</a:t>
            </a:r>
          </a:p>
        </p:txBody>
      </p:sp>
      <p:pic>
        <p:nvPicPr>
          <p:cNvPr id="4099" name="Picture 3" descr="C:\Users\sony\Desktop\ai-knowledge-base-for-wumpus-world8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436" y="5133391"/>
            <a:ext cx="3505200" cy="140208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629655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143000"/>
            <a:ext cx="8458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Apply Unit Resolution on W</a:t>
            </a:r>
            <a:r>
              <a:rPr lang="en-US" b="1" baseline="-25000" dirty="0"/>
              <a:t>13</a:t>
            </a:r>
            <a:r>
              <a:rPr lang="en-US" b="1" dirty="0"/>
              <a:t> ∨ W</a:t>
            </a:r>
            <a:r>
              <a:rPr lang="en-US" b="1" baseline="-25000" dirty="0"/>
              <a:t>12</a:t>
            </a:r>
            <a:r>
              <a:rPr lang="en-US" b="1" dirty="0"/>
              <a:t> and ¬ W</a:t>
            </a:r>
            <a:r>
              <a:rPr lang="en-US" b="1" baseline="-25000" dirty="0"/>
              <a:t>12</a:t>
            </a:r>
            <a:r>
              <a:rPr lang="en-US" b="1" dirty="0"/>
              <a:t> :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04800" y="2194036"/>
            <a:ext cx="8686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After Applying Unit resolution on </a:t>
            </a:r>
            <a:r>
              <a:rPr lang="en-US" b="1" dirty="0"/>
              <a:t>W</a:t>
            </a:r>
            <a:r>
              <a:rPr lang="en-US" b="1" baseline="-25000" dirty="0"/>
              <a:t>13</a:t>
            </a:r>
            <a:r>
              <a:rPr lang="en-US" b="1" dirty="0"/>
              <a:t> ∨ W</a:t>
            </a:r>
            <a:r>
              <a:rPr lang="en-US" b="1" baseline="-25000" dirty="0"/>
              <a:t>12</a:t>
            </a:r>
            <a:r>
              <a:rPr lang="en-US" b="1" dirty="0"/>
              <a:t> and ¬ W</a:t>
            </a:r>
            <a:r>
              <a:rPr lang="en-US" b="1" baseline="-25000" dirty="0"/>
              <a:t>12</a:t>
            </a:r>
            <a:r>
              <a:rPr lang="en-US" dirty="0"/>
              <a:t>, we will get </a:t>
            </a:r>
            <a:r>
              <a:rPr lang="en-US" b="1" dirty="0"/>
              <a:t>W</a:t>
            </a:r>
            <a:r>
              <a:rPr lang="en-US" b="1" baseline="-25000" dirty="0"/>
              <a:t>13</a:t>
            </a:r>
            <a:r>
              <a:rPr lang="en-US" dirty="0"/>
              <a:t> as an output, hence it is proved that the Wumpus is in the room [1, 3].</a:t>
            </a:r>
          </a:p>
        </p:txBody>
      </p:sp>
      <p:pic>
        <p:nvPicPr>
          <p:cNvPr id="5122" name="Picture 2" descr="C:\Users\sony\Desktop\ai-knowledge-base-for-wumpus-world9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581400"/>
            <a:ext cx="4445591" cy="18034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74682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6292</TotalTime>
  <Words>1214</Words>
  <Application>Microsoft Office PowerPoint</Application>
  <PresentationFormat>On-screen Show (4:3)</PresentationFormat>
  <Paragraphs>138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102963</cp:lastModifiedBy>
  <cp:revision>7</cp:revision>
  <dcterms:created xsi:type="dcterms:W3CDTF">2022-04-04T18:25:56Z</dcterms:created>
  <dcterms:modified xsi:type="dcterms:W3CDTF">2025-03-23T15:32:57Z</dcterms:modified>
</cp:coreProperties>
</file>